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00E"/>
                </a:solidFill>
                <a:latin typeface="Arial"/>
              </a:defRPr>
            </a:pPr>
            <a:r>
              <a:rPr sz="1300" b="0" i="0" u="none" strike="noStrike">
                <a:solidFill>
                  <a:srgbClr val="14100E"/>
                </a:solidFill>
                <a:latin typeface="Arial"/>
              </a:rPr>
              <a:t>Score weighting</a:t>
            </a:r>
          </a:p>
        </c:rich>
      </c:tx>
      <c:layout/>
      <c:overlay val="0"/>
    </c:title>
    <c:autoTitleDeleted val="0"/>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C85A2E"/>
              </a:solidFill>
              <a:effectLst/>
            </c:spPr>
          </c:dPt>
          <c:dPt>
            <c:idx val="1"/>
            <c:bubble3D val="0"/>
            <c:spPr>
              <a:solidFill>
                <a:srgbClr val="14663F"/>
              </a:solidFill>
              <a:effectLst/>
            </c:spPr>
          </c:dPt>
          <c:dPt>
            <c:idx val="2"/>
            <c:bubble3D val="0"/>
            <c:spPr>
              <a:solidFill>
                <a:srgbClr val="2C5F5A"/>
              </a:solidFill>
              <a:effectLst/>
            </c:spPr>
          </c:dPt>
          <c:dPt>
            <c:idx val="3"/>
            <c:bubble3D val="0"/>
            <c:spPr>
              <a:solidFill>
                <a:srgbClr val="B8A888"/>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Popularity</c:v>
                </c:pt>
                <c:pt idx="1">
                  <c:v>Low detour</c:v>
                </c:pt>
                <c:pt idx="2">
                  <c:v>Theme match</c:v>
                </c:pt>
                <c:pt idx="3">
                  <c:v>Time fit</c:v>
                </c:pt>
              </c:strCache>
            </c:strRef>
          </c:cat>
          <c:val>
            <c:numRef>
              <c:f>Sheet1!$B$2:$B$5</c:f>
              <c:numCache>
                <c:ptCount val="4"/>
                <c:pt idx="0">
                  <c:v>35</c:v>
                </c:pt>
                <c:pt idx="1">
                  <c:v>30</c:v>
                </c:pt>
                <c:pt idx="2">
                  <c:v>25</c:v>
                </c:pt>
                <c:pt idx="3">
                  <c:v>10</c:v>
                </c:pt>
              </c:numCache>
            </c:numRef>
          </c:val>
        </c:ser>
        <c:firstSliceAng val="0"/>
        <c:holeSize val="55"/>
      </c:doughnutChart>
      <c:spPr>
        <a:noFill/>
        <a:ln>
          <a:noFill/>
        </a:ln>
        <a:effectLst/>
      </c:spPr>
    </c:plotArea>
    <c:legend>
      <c:legendPos val="b"/>
      <c:overlay val="0"/>
      <c:txPr>
        <a:bodyPr/>
        <a:lstStyle/>
        <a:p>
          <a:pPr>
            <a:defRPr sz="1100">
              <a:solidFill>
                <a:srgbClr val="14100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Rahgir — meaning 'wayfarer' — an AI route travel assistant for Indian road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E"/>
        </a:solidFill>
      </p:bgPr>
    </p:bg>
    <p:spTree>
      <p:nvGrpSpPr>
        <p:cNvPr id="1" name=""/>
        <p:cNvGrpSpPr/>
        <p:nvPr/>
      </p:nvGrpSpPr>
      <p:grpSpPr>
        <a:xfrm>
          <a:off x="0" y="0"/>
          <a:ext cx="0" cy="0"/>
          <a:chOff x="0" y="0"/>
          <a:chExt cx="0" cy="0"/>
        </a:xfrm>
      </p:grpSpPr>
      <p:sp>
        <p:nvSpPr>
          <p:cNvPr id="2" name="Text 0"/>
          <p:cNvSpPr/>
          <p:nvPr/>
        </p:nvSpPr>
        <p:spPr>
          <a:xfrm>
            <a:off x="640080" y="1371600"/>
            <a:ext cx="8229600" cy="1371600"/>
          </a:xfrm>
          <a:prstGeom prst="rect">
            <a:avLst/>
          </a:prstGeom>
          <a:noFill/>
          <a:ln/>
        </p:spPr>
        <p:txBody>
          <a:bodyPr wrap="square" lIns="0" tIns="0" rIns="0" bIns="0" rtlCol="0" anchor="ctr"/>
          <a:lstStyle/>
          <a:p>
            <a:pPr indent="0" marL="0">
              <a:buNone/>
            </a:pPr>
            <a:r>
              <a:rPr lang="en-US" sz="6600" b="1" dirty="0">
                <a:solidFill>
                  <a:srgbClr val="F4F1EA"/>
                </a:solidFill>
                <a:latin typeface="Nirmala UI" pitchFamily="34" charset="0"/>
                <a:ea typeface="Nirmala UI" pitchFamily="34" charset="-122"/>
                <a:cs typeface="Nirmala UI" pitchFamily="34" charset="-120"/>
              </a:rPr>
              <a:t>राहगीर</a:t>
            </a:r>
            <a:endParaRPr lang="en-US" sz="6600" dirty="0"/>
          </a:p>
        </p:txBody>
      </p:sp>
      <p:sp>
        <p:nvSpPr>
          <p:cNvPr id="3" name="Text 1"/>
          <p:cNvSpPr/>
          <p:nvPr/>
        </p:nvSpPr>
        <p:spPr>
          <a:xfrm>
            <a:off x="640080" y="2743200"/>
            <a:ext cx="8229600" cy="548640"/>
          </a:xfrm>
          <a:prstGeom prst="rect">
            <a:avLst/>
          </a:prstGeom>
          <a:noFill/>
          <a:ln/>
        </p:spPr>
        <p:txBody>
          <a:bodyPr wrap="square" lIns="0" tIns="0" rIns="0" bIns="0" rtlCol="0" anchor="ctr"/>
          <a:lstStyle/>
          <a:p>
            <a:pPr indent="0" marL="0">
              <a:buNone/>
            </a:pPr>
            <a:r>
              <a:rPr lang="en-US" sz="3000" b="1" spc="800" kern="0" dirty="0">
                <a:solidFill>
                  <a:srgbClr val="F2B01E"/>
                </a:solidFill>
                <a:latin typeface="Cambria" pitchFamily="34" charset="0"/>
                <a:ea typeface="Cambria" pitchFamily="34" charset="-122"/>
                <a:cs typeface="Cambria" pitchFamily="34" charset="-120"/>
              </a:rPr>
              <a:t>R A H G I R</a:t>
            </a:r>
            <a:endParaRPr lang="en-US" sz="3000" dirty="0"/>
          </a:p>
        </p:txBody>
      </p:sp>
      <p:sp>
        <p:nvSpPr>
          <p:cNvPr id="4" name="Text 2"/>
          <p:cNvSpPr/>
          <p:nvPr/>
        </p:nvSpPr>
        <p:spPr>
          <a:xfrm>
            <a:off x="640080" y="3429000"/>
            <a:ext cx="8686800" cy="457200"/>
          </a:xfrm>
          <a:prstGeom prst="rect">
            <a:avLst/>
          </a:prstGeom>
          <a:noFill/>
          <a:ln/>
        </p:spPr>
        <p:txBody>
          <a:bodyPr wrap="square" lIns="0" tIns="0" rIns="0" bIns="0" rtlCol="0" anchor="ctr"/>
          <a:lstStyle/>
          <a:p>
            <a:pPr indent="0" marL="0">
              <a:buNone/>
            </a:pPr>
            <a:r>
              <a:rPr lang="en-US" sz="1700" dirty="0">
                <a:solidFill>
                  <a:srgbClr val="C9C3B6"/>
                </a:solidFill>
                <a:latin typeface="Calibri" pitchFamily="34" charset="0"/>
                <a:ea typeface="Calibri" pitchFamily="34" charset="-122"/>
                <a:cs typeface="Calibri" pitchFamily="34" charset="-120"/>
              </a:rPr>
              <a:t>An AI Route Travel Assistant for Indian Road Trips</a:t>
            </a:r>
            <a:endParaRPr lang="en-US" sz="1700" dirty="0"/>
          </a:p>
        </p:txBody>
      </p:sp>
      <p:sp>
        <p:nvSpPr>
          <p:cNvPr id="5" name="Text 3"/>
          <p:cNvSpPr/>
          <p:nvPr/>
        </p:nvSpPr>
        <p:spPr>
          <a:xfrm>
            <a:off x="640080" y="3931920"/>
            <a:ext cx="8686800" cy="457200"/>
          </a:xfrm>
          <a:prstGeom prst="rect">
            <a:avLst/>
          </a:prstGeom>
          <a:noFill/>
          <a:ln/>
        </p:spPr>
        <p:txBody>
          <a:bodyPr wrap="square" lIns="0" tIns="0" rIns="0" bIns="0" rtlCol="0" anchor="ctr"/>
          <a:lstStyle/>
          <a:p>
            <a:pPr indent="0" marL="0">
              <a:buNone/>
            </a:pPr>
            <a:r>
              <a:rPr lang="en-US" sz="1300" i="1" dirty="0">
                <a:solidFill>
                  <a:srgbClr val="C85A2E"/>
                </a:solidFill>
                <a:latin typeface="Cambria" pitchFamily="34" charset="0"/>
                <a:ea typeface="Cambria" pitchFamily="34" charset="-122"/>
                <a:cs typeface="Cambria" pitchFamily="34" charset="-120"/>
              </a:rPr>
              <a:t>“Google Maps tells you how to get there.  Rahgir tells you what you'll miss on the way.”</a:t>
            </a:r>
            <a:endParaRPr lang="en-US" sz="1300" dirty="0"/>
          </a:p>
        </p:txBody>
      </p:sp>
      <p:sp>
        <p:nvSpPr>
          <p:cNvPr id="6" name="Text 4"/>
          <p:cNvSpPr/>
          <p:nvPr/>
        </p:nvSpPr>
        <p:spPr>
          <a:xfrm>
            <a:off x="640080" y="4800600"/>
            <a:ext cx="5486400" cy="256032"/>
          </a:xfrm>
          <a:prstGeom prst="rect">
            <a:avLst/>
          </a:prstGeom>
          <a:noFill/>
          <a:ln/>
        </p:spPr>
        <p:txBody>
          <a:bodyPr wrap="square" lIns="0" tIns="0" rIns="0" bIns="0" rtlCol="0" anchor="ctr"/>
          <a:lstStyle/>
          <a:p>
            <a:pPr indent="0" marL="0">
              <a:buNone/>
            </a:pPr>
            <a:r>
              <a:rPr lang="en-US" sz="1000" b="1" spc="250" kern="0" dirty="0">
                <a:solidFill>
                  <a:srgbClr val="8A8478"/>
                </a:solidFill>
                <a:latin typeface="Calibri" pitchFamily="34" charset="0"/>
                <a:ea typeface="Calibri" pitchFamily="34" charset="-122"/>
                <a:cs typeface="Calibri" pitchFamily="34" charset="-120"/>
              </a:rPr>
              <a:t>MINI PROJECT  ·  TEAM</a:t>
            </a:r>
            <a:endParaRPr lang="en-US" sz="1000" dirty="0"/>
          </a:p>
        </p:txBody>
      </p:sp>
      <p:sp>
        <p:nvSpPr>
          <p:cNvPr id="7" name="Text 5"/>
          <p:cNvSpPr/>
          <p:nvPr/>
        </p:nvSpPr>
        <p:spPr>
          <a:xfrm>
            <a:off x="640080" y="5120640"/>
            <a:ext cx="3840480" cy="1280160"/>
          </a:xfrm>
          <a:prstGeom prst="rect">
            <a:avLst/>
          </a:prstGeom>
          <a:noFill/>
          <a:ln/>
        </p:spPr>
        <p:txBody>
          <a:bodyPr wrap="square" lIns="0" tIns="0" rIns="0" bIns="0" rtlCol="0" anchor="ctr"/>
          <a:lstStyle/>
          <a:p>
            <a:pPr indent="0" marL="0">
              <a:lnSpc>
                <a:spcPct val="125000"/>
              </a:lnSpc>
              <a:buNone/>
            </a:pPr>
            <a:r>
              <a:rPr lang="en-US" sz="1400" dirty="0">
                <a:solidFill>
                  <a:srgbClr val="F4F1EA"/>
                </a:solidFill>
                <a:latin typeface="Calibri" pitchFamily="34" charset="0"/>
                <a:ea typeface="Calibri" pitchFamily="34" charset="-122"/>
                <a:cs typeface="Calibri" pitchFamily="34" charset="-120"/>
              </a:rPr>
              <a:t>Raj Porwal</a:t>
            </a:r>
            <a:endParaRPr lang="en-US" sz="1400" dirty="0"/>
          </a:p>
          <a:p>
            <a:pPr indent="0" marL="0">
              <a:lnSpc>
                <a:spcPct val="125000"/>
              </a:lnSpc>
              <a:buNone/>
            </a:pPr>
            <a:r>
              <a:rPr lang="en-US" sz="1400" dirty="0">
                <a:solidFill>
                  <a:srgbClr val="F4F1EA"/>
                </a:solidFill>
                <a:latin typeface="Calibri" pitchFamily="34" charset="0"/>
                <a:ea typeface="Calibri" pitchFamily="34" charset="-122"/>
                <a:cs typeface="Calibri" pitchFamily="34" charset="-120"/>
              </a:rPr>
              <a:t>Rameshwar Tripathi</a:t>
            </a:r>
            <a:endParaRPr lang="en-US" sz="1400" dirty="0"/>
          </a:p>
          <a:p>
            <a:pPr indent="0" marL="0">
              <a:lnSpc>
                <a:spcPct val="125000"/>
              </a:lnSpc>
              <a:buNone/>
            </a:pPr>
            <a:r>
              <a:rPr lang="en-US" sz="1400" dirty="0">
                <a:solidFill>
                  <a:srgbClr val="F4F1EA"/>
                </a:solidFill>
                <a:latin typeface="Calibri" pitchFamily="34" charset="0"/>
                <a:ea typeface="Calibri" pitchFamily="34" charset="-122"/>
                <a:cs typeface="Calibri" pitchFamily="34" charset="-120"/>
              </a:rPr>
              <a:t>Shashank Kumar</a:t>
            </a:r>
            <a:endParaRPr lang="en-US" sz="1400" dirty="0"/>
          </a:p>
          <a:p>
            <a:pPr indent="0" marL="0">
              <a:lnSpc>
                <a:spcPct val="125000"/>
              </a:lnSpc>
              <a:buNone/>
            </a:pPr>
            <a:r>
              <a:rPr lang="en-US" sz="1400" dirty="0">
                <a:solidFill>
                  <a:srgbClr val="F4F1EA"/>
                </a:solidFill>
                <a:latin typeface="Calibri" pitchFamily="34" charset="0"/>
                <a:ea typeface="Calibri" pitchFamily="34" charset="-122"/>
                <a:cs typeface="Calibri" pitchFamily="34" charset="-120"/>
              </a:rPr>
              <a:t>Rahul Singh</a:t>
            </a:r>
            <a:endParaRPr lang="en-US" sz="1400" dirty="0"/>
          </a:p>
        </p:txBody>
      </p:sp>
      <p:sp>
        <p:nvSpPr>
          <p:cNvPr id="8" name="Text 6"/>
          <p:cNvSpPr/>
          <p:nvPr/>
        </p:nvSpPr>
        <p:spPr>
          <a:xfrm>
            <a:off x="4754880" y="5120640"/>
            <a:ext cx="4572000" cy="1280160"/>
          </a:xfrm>
          <a:prstGeom prst="rect">
            <a:avLst/>
          </a:prstGeom>
          <a:noFill/>
          <a:ln/>
        </p:spPr>
        <p:txBody>
          <a:bodyPr wrap="square" lIns="0" tIns="0" rIns="0" bIns="0" rtlCol="0" anchor="ctr"/>
          <a:lstStyle/>
          <a:p>
            <a:pPr indent="0" marL="0">
              <a:lnSpc>
                <a:spcPct val="125000"/>
              </a:lnSpc>
              <a:buNone/>
            </a:pPr>
            <a:r>
              <a:rPr lang="en-US" sz="1200" dirty="0">
                <a:solidFill>
                  <a:srgbClr val="9E988C"/>
                </a:solidFill>
                <a:latin typeface="Calibri" pitchFamily="34" charset="0"/>
                <a:ea typeface="Calibri" pitchFamily="34" charset="-122"/>
                <a:cs typeface="Calibri" pitchFamily="34" charset="-120"/>
              </a:rPr>
              <a:t>Guide:  ‹ADD GUIDE NAME›</a:t>
            </a:r>
            <a:endParaRPr lang="en-US" sz="1200" dirty="0"/>
          </a:p>
          <a:p>
            <a:pPr indent="0" marL="0">
              <a:lnSpc>
                <a:spcPct val="125000"/>
              </a:lnSpc>
              <a:buNone/>
            </a:pPr>
            <a:r>
              <a:rPr lang="en-US" sz="1200" dirty="0">
                <a:solidFill>
                  <a:srgbClr val="9E988C"/>
                </a:solidFill>
                <a:latin typeface="Calibri" pitchFamily="34" charset="0"/>
                <a:ea typeface="Calibri" pitchFamily="34" charset="-122"/>
                <a:cs typeface="Calibri" pitchFamily="34" charset="-120"/>
              </a:rPr>
              <a:t>Department:  ‹ADD DEPARTMENT›</a:t>
            </a:r>
            <a:endParaRPr lang="en-US" sz="1200" dirty="0"/>
          </a:p>
          <a:p>
            <a:pPr indent="0" marL="0">
              <a:lnSpc>
                <a:spcPct val="125000"/>
              </a:lnSpc>
              <a:buNone/>
            </a:pPr>
            <a:r>
              <a:rPr lang="en-US" sz="1200" dirty="0">
                <a:solidFill>
                  <a:srgbClr val="9E988C"/>
                </a:solidFill>
                <a:latin typeface="Calibri" pitchFamily="34" charset="0"/>
                <a:ea typeface="Calibri" pitchFamily="34" charset="-122"/>
                <a:cs typeface="Calibri" pitchFamily="34" charset="-120"/>
              </a:rPr>
              <a:t>College:  ‹ADD COLLEGE NAME›</a:t>
            </a:r>
            <a:endParaRPr lang="en-US" sz="1200" dirty="0"/>
          </a:p>
          <a:p>
            <a:pPr indent="0" marL="0">
              <a:lnSpc>
                <a:spcPct val="125000"/>
              </a:lnSpc>
              <a:buNone/>
            </a:pPr>
            <a:r>
              <a:rPr lang="en-US" sz="1200" dirty="0">
                <a:solidFill>
                  <a:srgbClr val="9E988C"/>
                </a:solidFill>
                <a:latin typeface="Calibri" pitchFamily="34" charset="0"/>
                <a:ea typeface="Calibri" pitchFamily="34" charset="-122"/>
                <a:cs typeface="Calibri" pitchFamily="34" charset="-120"/>
              </a:rPr>
              <a:t>Academic Year:  ‹ADD YEAR›</a:t>
            </a:r>
            <a:endParaRPr lang="en-US" sz="1200" dirty="0"/>
          </a:p>
        </p:txBody>
      </p:sp>
      <p:sp>
        <p:nvSpPr>
          <p:cNvPr id="9" name="Shape 7"/>
          <p:cNvSpPr/>
          <p:nvPr/>
        </p:nvSpPr>
        <p:spPr>
          <a:xfrm>
            <a:off x="9692640" y="1554480"/>
            <a:ext cx="1828800" cy="2340864"/>
          </a:xfrm>
          <a:prstGeom prst="roundRect">
            <a:avLst>
              <a:gd name="adj" fmla="val 22500"/>
            </a:avLst>
          </a:prstGeom>
          <a:solidFill>
            <a:srgbClr val="F4F1EA"/>
          </a:solidFill>
          <a:ln w="15875">
            <a:solidFill>
              <a:srgbClr val="14100E"/>
            </a:solidFill>
            <a:prstDash val="solid"/>
          </a:ln>
        </p:spPr>
      </p:sp>
      <p:sp>
        <p:nvSpPr>
          <p:cNvPr id="10" name="Shape 8"/>
          <p:cNvSpPr/>
          <p:nvPr/>
        </p:nvSpPr>
        <p:spPr>
          <a:xfrm>
            <a:off x="9692640" y="1554480"/>
            <a:ext cx="1828800" cy="936346"/>
          </a:xfrm>
          <a:prstGeom prst="roundRect">
            <a:avLst>
              <a:gd name="adj" fmla="val 43945"/>
            </a:avLst>
          </a:prstGeom>
          <a:solidFill>
            <a:srgbClr val="14663F"/>
          </a:solidFill>
          <a:ln/>
        </p:spPr>
      </p:sp>
      <p:sp>
        <p:nvSpPr>
          <p:cNvPr id="11" name="Text 9"/>
          <p:cNvSpPr/>
          <p:nvPr/>
        </p:nvSpPr>
        <p:spPr>
          <a:xfrm>
            <a:off x="9692640" y="2397191"/>
            <a:ext cx="1828800" cy="1451336"/>
          </a:xfrm>
          <a:prstGeom prst="rect">
            <a:avLst/>
          </a:prstGeom>
          <a:noFill/>
          <a:ln/>
        </p:spPr>
        <p:txBody>
          <a:bodyPr wrap="square" lIns="0" tIns="0" rIns="0" bIns="0" rtlCol="0" anchor="ctr"/>
          <a:lstStyle/>
          <a:p>
            <a:pPr algn="ctr" indent="0" marL="0">
              <a:buNone/>
            </a:pPr>
            <a:r>
              <a:rPr lang="en-US" sz="2600" b="1" dirty="0">
                <a:solidFill>
                  <a:srgbClr val="14100E"/>
                </a:solidFill>
                <a:latin typeface="Cambria" pitchFamily="34" charset="0"/>
                <a:ea typeface="Cambria" pitchFamily="34" charset="-122"/>
                <a:cs typeface="Cambria" pitchFamily="34" charset="-120"/>
              </a:rPr>
              <a:t>0</a:t>
            </a:r>
            <a:endParaRPr lang="en-US" sz="2600" dirty="0"/>
          </a:p>
        </p:txBody>
      </p:sp>
      <p:sp>
        <p:nvSpPr>
          <p:cNvPr id="12" name="Shape 10"/>
          <p:cNvSpPr/>
          <p:nvPr/>
        </p:nvSpPr>
        <p:spPr>
          <a:xfrm>
            <a:off x="9692640" y="3977640"/>
            <a:ext cx="1828800" cy="2340864"/>
          </a:xfrm>
          <a:prstGeom prst="roundRect">
            <a:avLst>
              <a:gd name="adj" fmla="val 22500"/>
            </a:avLst>
          </a:prstGeom>
          <a:solidFill>
            <a:srgbClr val="F4F1EA"/>
          </a:solidFill>
          <a:ln w="15875">
            <a:solidFill>
              <a:srgbClr val="14100E"/>
            </a:solidFill>
            <a:prstDash val="solid"/>
          </a:ln>
        </p:spPr>
      </p:sp>
      <p:sp>
        <p:nvSpPr>
          <p:cNvPr id="13" name="Shape 11"/>
          <p:cNvSpPr/>
          <p:nvPr/>
        </p:nvSpPr>
        <p:spPr>
          <a:xfrm>
            <a:off x="9692640" y="3977640"/>
            <a:ext cx="1828800" cy="936346"/>
          </a:xfrm>
          <a:prstGeom prst="roundRect">
            <a:avLst>
              <a:gd name="adj" fmla="val 43945"/>
            </a:avLst>
          </a:prstGeom>
          <a:solidFill>
            <a:srgbClr val="C85A2E"/>
          </a:solidFill>
          <a:ln/>
        </p:spPr>
      </p:sp>
      <p:sp>
        <p:nvSpPr>
          <p:cNvPr id="14" name="Text 12"/>
          <p:cNvSpPr/>
          <p:nvPr/>
        </p:nvSpPr>
        <p:spPr>
          <a:xfrm>
            <a:off x="9692640" y="4820351"/>
            <a:ext cx="1828800" cy="1451336"/>
          </a:xfrm>
          <a:prstGeom prst="rect">
            <a:avLst/>
          </a:prstGeom>
          <a:noFill/>
          <a:ln/>
        </p:spPr>
        <p:txBody>
          <a:bodyPr wrap="square" lIns="0" tIns="0" rIns="0" bIns="0" rtlCol="0" anchor="ctr"/>
          <a:lstStyle/>
          <a:p>
            <a:pPr algn="ctr" indent="0" marL="0">
              <a:buNone/>
            </a:pPr>
            <a:r>
              <a:rPr lang="en-US" sz="2600" b="1" dirty="0">
                <a:solidFill>
                  <a:srgbClr val="14100E"/>
                </a:solidFill>
                <a:latin typeface="Cambria" pitchFamily="34" charset="0"/>
                <a:ea typeface="Cambria" pitchFamily="34" charset="-122"/>
                <a:cs typeface="Cambria" pitchFamily="34" charset="-120"/>
              </a:rPr>
              <a:t>311</a:t>
            </a:r>
            <a:endParaRPr lang="en-US" sz="2600" dirty="0"/>
          </a:p>
        </p:txBody>
      </p:sp>
      <p:sp>
        <p:nvSpPr>
          <p:cNvPr id="15" name="Text 13"/>
          <p:cNvSpPr/>
          <p:nvPr/>
        </p:nvSpPr>
        <p:spPr>
          <a:xfrm>
            <a:off x="9692640" y="6355080"/>
            <a:ext cx="1828800" cy="274320"/>
          </a:xfrm>
          <a:prstGeom prst="rect">
            <a:avLst/>
          </a:prstGeom>
          <a:noFill/>
          <a:ln/>
        </p:spPr>
        <p:txBody>
          <a:bodyPr wrap="square" lIns="0" tIns="0" rIns="0" bIns="0" rtlCol="0" anchor="ctr"/>
          <a:lstStyle/>
          <a:p>
            <a:pPr algn="ctr" indent="0" marL="0">
              <a:buNone/>
            </a:pPr>
            <a:r>
              <a:rPr lang="en-US" sz="1000" dirty="0">
                <a:solidFill>
                  <a:srgbClr val="8A8478"/>
                </a:solidFill>
                <a:latin typeface="Calibri" pitchFamily="34" charset="0"/>
                <a:ea typeface="Calibri" pitchFamily="34" charset="-122"/>
                <a:cs typeface="Calibri" pitchFamily="34" charset="-120"/>
              </a:rPr>
              <a:t>km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Contents</a:t>
            </a:r>
            <a:endParaRPr lang="en-US" sz="3400" dirty="0"/>
          </a:p>
        </p:txBody>
      </p:sp>
      <p:sp>
        <p:nvSpPr>
          <p:cNvPr id="4" name="Shape 2"/>
          <p:cNvSpPr/>
          <p:nvPr/>
        </p:nvSpPr>
        <p:spPr>
          <a:xfrm>
            <a:off x="640080" y="1691640"/>
            <a:ext cx="566928" cy="566928"/>
          </a:xfrm>
          <a:prstGeom prst="ellipse">
            <a:avLst/>
          </a:prstGeom>
          <a:solidFill>
            <a:srgbClr val="14663F"/>
          </a:solidFill>
          <a:ln/>
        </p:spPr>
      </p:sp>
      <p:sp>
        <p:nvSpPr>
          <p:cNvPr id="5" name="Text 3"/>
          <p:cNvSpPr/>
          <p:nvPr/>
        </p:nvSpPr>
        <p:spPr>
          <a:xfrm>
            <a:off x="640080" y="169164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1353312" y="178308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Abstract</a:t>
            </a:r>
            <a:endParaRPr lang="en-US" sz="1600" dirty="0"/>
          </a:p>
        </p:txBody>
      </p:sp>
      <p:sp>
        <p:nvSpPr>
          <p:cNvPr id="7" name="Shape 5"/>
          <p:cNvSpPr/>
          <p:nvPr/>
        </p:nvSpPr>
        <p:spPr>
          <a:xfrm>
            <a:off x="4389120" y="1691640"/>
            <a:ext cx="566928" cy="566928"/>
          </a:xfrm>
          <a:prstGeom prst="ellipse">
            <a:avLst/>
          </a:prstGeom>
          <a:solidFill>
            <a:srgbClr val="14663F"/>
          </a:solidFill>
          <a:ln/>
        </p:spPr>
      </p:sp>
      <p:sp>
        <p:nvSpPr>
          <p:cNvPr id="8" name="Text 6"/>
          <p:cNvSpPr/>
          <p:nvPr/>
        </p:nvSpPr>
        <p:spPr>
          <a:xfrm>
            <a:off x="4389120" y="169164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5102352" y="178308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Introduction</a:t>
            </a:r>
            <a:endParaRPr lang="en-US" sz="1600" dirty="0"/>
          </a:p>
        </p:txBody>
      </p:sp>
      <p:sp>
        <p:nvSpPr>
          <p:cNvPr id="10" name="Shape 8"/>
          <p:cNvSpPr/>
          <p:nvPr/>
        </p:nvSpPr>
        <p:spPr>
          <a:xfrm>
            <a:off x="8138160" y="1691640"/>
            <a:ext cx="566928" cy="566928"/>
          </a:xfrm>
          <a:prstGeom prst="ellipse">
            <a:avLst/>
          </a:prstGeom>
          <a:solidFill>
            <a:srgbClr val="14663F"/>
          </a:solidFill>
          <a:ln/>
        </p:spPr>
      </p:sp>
      <p:sp>
        <p:nvSpPr>
          <p:cNvPr id="11" name="Text 9"/>
          <p:cNvSpPr/>
          <p:nvPr/>
        </p:nvSpPr>
        <p:spPr>
          <a:xfrm>
            <a:off x="8138160" y="169164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8851392" y="178308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Problem Statement</a:t>
            </a:r>
            <a:endParaRPr lang="en-US" sz="1600" dirty="0"/>
          </a:p>
        </p:txBody>
      </p:sp>
      <p:sp>
        <p:nvSpPr>
          <p:cNvPr id="13" name="Shape 11"/>
          <p:cNvSpPr/>
          <p:nvPr/>
        </p:nvSpPr>
        <p:spPr>
          <a:xfrm>
            <a:off x="640080" y="2788920"/>
            <a:ext cx="566928" cy="566928"/>
          </a:xfrm>
          <a:prstGeom prst="ellipse">
            <a:avLst/>
          </a:prstGeom>
          <a:solidFill>
            <a:srgbClr val="14663F"/>
          </a:solidFill>
          <a:ln/>
        </p:spPr>
      </p:sp>
      <p:sp>
        <p:nvSpPr>
          <p:cNvPr id="14" name="Text 12"/>
          <p:cNvSpPr/>
          <p:nvPr/>
        </p:nvSpPr>
        <p:spPr>
          <a:xfrm>
            <a:off x="640080" y="278892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p:nvPr/>
        </p:nvSpPr>
        <p:spPr>
          <a:xfrm>
            <a:off x="1353312" y="288036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Objectives</a:t>
            </a:r>
            <a:endParaRPr lang="en-US" sz="1600" dirty="0"/>
          </a:p>
        </p:txBody>
      </p:sp>
      <p:sp>
        <p:nvSpPr>
          <p:cNvPr id="16" name="Shape 14"/>
          <p:cNvSpPr/>
          <p:nvPr/>
        </p:nvSpPr>
        <p:spPr>
          <a:xfrm>
            <a:off x="4389120" y="2788920"/>
            <a:ext cx="566928" cy="566928"/>
          </a:xfrm>
          <a:prstGeom prst="ellipse">
            <a:avLst/>
          </a:prstGeom>
          <a:solidFill>
            <a:srgbClr val="14663F"/>
          </a:solidFill>
          <a:ln/>
        </p:spPr>
      </p:sp>
      <p:sp>
        <p:nvSpPr>
          <p:cNvPr id="17" name="Text 15"/>
          <p:cNvSpPr/>
          <p:nvPr/>
        </p:nvSpPr>
        <p:spPr>
          <a:xfrm>
            <a:off x="4389120" y="278892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p:nvPr/>
        </p:nvSpPr>
        <p:spPr>
          <a:xfrm>
            <a:off x="5102352" y="288036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Literature Survey</a:t>
            </a:r>
            <a:endParaRPr lang="en-US" sz="1600" dirty="0"/>
          </a:p>
        </p:txBody>
      </p:sp>
      <p:sp>
        <p:nvSpPr>
          <p:cNvPr id="19" name="Shape 17"/>
          <p:cNvSpPr/>
          <p:nvPr/>
        </p:nvSpPr>
        <p:spPr>
          <a:xfrm>
            <a:off x="8138160" y="2788920"/>
            <a:ext cx="566928" cy="566928"/>
          </a:xfrm>
          <a:prstGeom prst="ellipse">
            <a:avLst/>
          </a:prstGeom>
          <a:solidFill>
            <a:srgbClr val="14663F"/>
          </a:solidFill>
          <a:ln/>
        </p:spPr>
      </p:sp>
      <p:sp>
        <p:nvSpPr>
          <p:cNvPr id="20" name="Text 18"/>
          <p:cNvSpPr/>
          <p:nvPr/>
        </p:nvSpPr>
        <p:spPr>
          <a:xfrm>
            <a:off x="8138160" y="278892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p:nvPr/>
        </p:nvSpPr>
        <p:spPr>
          <a:xfrm>
            <a:off x="8851392" y="288036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Proposed System</a:t>
            </a:r>
            <a:endParaRPr lang="en-US" sz="1600" dirty="0"/>
          </a:p>
        </p:txBody>
      </p:sp>
      <p:sp>
        <p:nvSpPr>
          <p:cNvPr id="22" name="Shape 20"/>
          <p:cNvSpPr/>
          <p:nvPr/>
        </p:nvSpPr>
        <p:spPr>
          <a:xfrm>
            <a:off x="640080" y="3886200"/>
            <a:ext cx="566928" cy="566928"/>
          </a:xfrm>
          <a:prstGeom prst="ellipse">
            <a:avLst/>
          </a:prstGeom>
          <a:solidFill>
            <a:srgbClr val="14663F"/>
          </a:solidFill>
          <a:ln/>
        </p:spPr>
      </p:sp>
      <p:sp>
        <p:nvSpPr>
          <p:cNvPr id="23" name="Text 21"/>
          <p:cNvSpPr/>
          <p:nvPr/>
        </p:nvSpPr>
        <p:spPr>
          <a:xfrm>
            <a:off x="640080" y="388620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p:nvPr/>
        </p:nvSpPr>
        <p:spPr>
          <a:xfrm>
            <a:off x="1353312" y="397764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System Architecture</a:t>
            </a:r>
            <a:endParaRPr lang="en-US" sz="1600" dirty="0"/>
          </a:p>
        </p:txBody>
      </p:sp>
      <p:sp>
        <p:nvSpPr>
          <p:cNvPr id="25" name="Shape 23"/>
          <p:cNvSpPr/>
          <p:nvPr/>
        </p:nvSpPr>
        <p:spPr>
          <a:xfrm>
            <a:off x="4389120" y="3886200"/>
            <a:ext cx="566928" cy="566928"/>
          </a:xfrm>
          <a:prstGeom prst="ellipse">
            <a:avLst/>
          </a:prstGeom>
          <a:solidFill>
            <a:srgbClr val="14663F"/>
          </a:solidFill>
          <a:ln/>
        </p:spPr>
      </p:sp>
      <p:sp>
        <p:nvSpPr>
          <p:cNvPr id="26" name="Text 24"/>
          <p:cNvSpPr/>
          <p:nvPr/>
        </p:nvSpPr>
        <p:spPr>
          <a:xfrm>
            <a:off x="4389120" y="388620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p:nvPr/>
        </p:nvSpPr>
        <p:spPr>
          <a:xfrm>
            <a:off x="5102352" y="397764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Technology Stack</a:t>
            </a:r>
            <a:endParaRPr lang="en-US" sz="1600" dirty="0"/>
          </a:p>
        </p:txBody>
      </p:sp>
      <p:sp>
        <p:nvSpPr>
          <p:cNvPr id="28" name="Shape 26"/>
          <p:cNvSpPr/>
          <p:nvPr/>
        </p:nvSpPr>
        <p:spPr>
          <a:xfrm>
            <a:off x="8138160" y="3886200"/>
            <a:ext cx="566928" cy="566928"/>
          </a:xfrm>
          <a:prstGeom prst="ellipse">
            <a:avLst/>
          </a:prstGeom>
          <a:solidFill>
            <a:srgbClr val="14663F"/>
          </a:solidFill>
          <a:ln/>
        </p:spPr>
      </p:sp>
      <p:sp>
        <p:nvSpPr>
          <p:cNvPr id="29" name="Text 27"/>
          <p:cNvSpPr/>
          <p:nvPr/>
        </p:nvSpPr>
        <p:spPr>
          <a:xfrm>
            <a:off x="8138160" y="388620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p:nvPr/>
        </p:nvSpPr>
        <p:spPr>
          <a:xfrm>
            <a:off x="8851392" y="397764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Modules</a:t>
            </a:r>
            <a:endParaRPr lang="en-US" sz="1600" dirty="0"/>
          </a:p>
        </p:txBody>
      </p:sp>
      <p:sp>
        <p:nvSpPr>
          <p:cNvPr id="31" name="Shape 29"/>
          <p:cNvSpPr/>
          <p:nvPr/>
        </p:nvSpPr>
        <p:spPr>
          <a:xfrm>
            <a:off x="640080" y="4983480"/>
            <a:ext cx="566928" cy="566928"/>
          </a:xfrm>
          <a:prstGeom prst="ellipse">
            <a:avLst/>
          </a:prstGeom>
          <a:solidFill>
            <a:srgbClr val="14663F"/>
          </a:solidFill>
          <a:ln/>
        </p:spPr>
      </p:sp>
      <p:sp>
        <p:nvSpPr>
          <p:cNvPr id="32" name="Text 30"/>
          <p:cNvSpPr/>
          <p:nvPr/>
        </p:nvSpPr>
        <p:spPr>
          <a:xfrm>
            <a:off x="640080" y="498348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1353312" y="507492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Implementation</a:t>
            </a:r>
            <a:endParaRPr lang="en-US" sz="1600" dirty="0"/>
          </a:p>
        </p:txBody>
      </p:sp>
      <p:sp>
        <p:nvSpPr>
          <p:cNvPr id="34" name="Shape 32"/>
          <p:cNvSpPr/>
          <p:nvPr/>
        </p:nvSpPr>
        <p:spPr>
          <a:xfrm>
            <a:off x="4389120" y="4983480"/>
            <a:ext cx="566928" cy="566928"/>
          </a:xfrm>
          <a:prstGeom prst="ellipse">
            <a:avLst/>
          </a:prstGeom>
          <a:solidFill>
            <a:srgbClr val="14663F"/>
          </a:solidFill>
          <a:ln/>
        </p:spPr>
      </p:sp>
      <p:sp>
        <p:nvSpPr>
          <p:cNvPr id="35" name="Text 33"/>
          <p:cNvSpPr/>
          <p:nvPr/>
        </p:nvSpPr>
        <p:spPr>
          <a:xfrm>
            <a:off x="4389120" y="498348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p:nvPr/>
        </p:nvSpPr>
        <p:spPr>
          <a:xfrm>
            <a:off x="5102352" y="507492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Results &amp; Testing</a:t>
            </a:r>
            <a:endParaRPr lang="en-US" sz="1600" dirty="0"/>
          </a:p>
        </p:txBody>
      </p:sp>
      <p:sp>
        <p:nvSpPr>
          <p:cNvPr id="37" name="Shape 35"/>
          <p:cNvSpPr/>
          <p:nvPr/>
        </p:nvSpPr>
        <p:spPr>
          <a:xfrm>
            <a:off x="8138160" y="4983480"/>
            <a:ext cx="566928" cy="566928"/>
          </a:xfrm>
          <a:prstGeom prst="ellipse">
            <a:avLst/>
          </a:prstGeom>
          <a:solidFill>
            <a:srgbClr val="14663F"/>
          </a:solidFill>
          <a:ln/>
        </p:spPr>
      </p:sp>
      <p:sp>
        <p:nvSpPr>
          <p:cNvPr id="38" name="Text 36"/>
          <p:cNvSpPr/>
          <p:nvPr/>
        </p:nvSpPr>
        <p:spPr>
          <a:xfrm>
            <a:off x="8138160" y="4983480"/>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p:nvPr/>
        </p:nvSpPr>
        <p:spPr>
          <a:xfrm>
            <a:off x="8851392" y="5074920"/>
            <a:ext cx="2834640" cy="41148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Future Scope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01</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Abstract</a:t>
            </a:r>
            <a:endParaRPr lang="en-US" sz="3400" dirty="0"/>
          </a:p>
        </p:txBody>
      </p:sp>
      <p:sp>
        <p:nvSpPr>
          <p:cNvPr id="4" name="Shape 2"/>
          <p:cNvSpPr/>
          <p:nvPr/>
        </p:nvSpPr>
        <p:spPr>
          <a:xfrm>
            <a:off x="640080" y="1600200"/>
            <a:ext cx="6949440" cy="4114800"/>
          </a:xfrm>
          <a:prstGeom prst="roundRect">
            <a:avLst>
              <a:gd name="adj" fmla="val 1333"/>
            </a:avLst>
          </a:prstGeom>
          <a:solidFill>
            <a:srgbClr val="F4F1EA"/>
          </a:solidFill>
          <a:ln w="12700">
            <a:solidFill>
              <a:srgbClr val="E3DDCE"/>
            </a:solidFill>
            <a:prstDash val="solid"/>
          </a:ln>
        </p:spPr>
      </p:sp>
      <p:sp>
        <p:nvSpPr>
          <p:cNvPr id="5" name="Text 3"/>
          <p:cNvSpPr/>
          <p:nvPr/>
        </p:nvSpPr>
        <p:spPr>
          <a:xfrm>
            <a:off x="960120" y="1874520"/>
            <a:ext cx="6309360" cy="3566160"/>
          </a:xfrm>
          <a:prstGeom prst="rect">
            <a:avLst/>
          </a:prstGeom>
          <a:noFill/>
          <a:ln/>
        </p:spPr>
        <p:txBody>
          <a:bodyPr wrap="square" lIns="0" tIns="0" rIns="0" bIns="0" rtlCol="0" anchor="t"/>
          <a:lstStyle/>
          <a:p>
            <a:pPr indent="0" marL="0">
              <a:lnSpc>
                <a:spcPct val="130000"/>
              </a:lnSpc>
              <a:buNone/>
            </a:pPr>
            <a:r>
              <a:rPr lang="en-US" sz="1400" dirty="0">
                <a:solidFill>
                  <a:srgbClr val="14100E"/>
                </a:solidFill>
                <a:latin typeface="Calibri" pitchFamily="34" charset="0"/>
                <a:ea typeface="Calibri" pitchFamily="34" charset="-122"/>
                <a:cs typeface="Calibri" pitchFamily="34" charset="-120"/>
              </a:rPr>
              <a:t>Rahgir is an AI-powered travel assistant that plans Indian road trips end to end. The user enters a starting point and a destination; a multi-agent system built on LangGraph computes the drivable route, samples it into waypoints with estimated arrival times, discovers culturally significant places along the corridor, ranks them by popularity, detour cost, chosen theme and time-of-day fit, and finally uses a Large Language Model to narrate a warm, time-aware itinerary.</a:t>
            </a:r>
            <a:endParaRPr lang="en-US" sz="1400" dirty="0"/>
          </a:p>
          <a:p>
            <a:pPr indent="0" marL="0">
              <a:lnSpc>
                <a:spcPct val="130000"/>
              </a:lnSpc>
              <a:buNone/>
            </a:pPr>
            <a:endParaRPr lang="en-US" sz="1400" dirty="0"/>
          </a:p>
          <a:p>
            <a:pPr indent="0" marL="0">
              <a:lnSpc>
                <a:spcPct val="130000"/>
              </a:lnSpc>
              <a:buNone/>
            </a:pPr>
            <a:r>
              <a:rPr lang="en-US" sz="1400" dirty="0">
                <a:solidFill>
                  <a:srgbClr val="14100E"/>
                </a:solidFill>
                <a:latin typeface="Calibri" pitchFamily="34" charset="0"/>
                <a:ea typeface="Calibri" pitchFamily="34" charset="-122"/>
                <a:cs typeface="Calibri" pitchFamily="34" charset="-120"/>
              </a:rPr>
              <a:t>Unlike conventional map services, which surface points of interest near a single point, Rahgir reasons about the entire route. The result is a living itinerary the traveller can edit, reorder and question in natural language.</a:t>
            </a:r>
            <a:endParaRPr lang="en-US" sz="1400" dirty="0"/>
          </a:p>
        </p:txBody>
      </p:sp>
      <p:sp>
        <p:nvSpPr>
          <p:cNvPr id="6" name="Shape 4"/>
          <p:cNvSpPr/>
          <p:nvPr/>
        </p:nvSpPr>
        <p:spPr>
          <a:xfrm>
            <a:off x="7955280" y="1600200"/>
            <a:ext cx="3566160" cy="1234440"/>
          </a:xfrm>
          <a:prstGeom prst="roundRect">
            <a:avLst>
              <a:gd name="adj" fmla="val 4444"/>
            </a:avLst>
          </a:prstGeom>
          <a:solidFill>
            <a:srgbClr val="FFFFFF"/>
          </a:solidFill>
          <a:ln w="12700">
            <a:solidFill>
              <a:srgbClr val="E3DDCE"/>
            </a:solidFill>
            <a:prstDash val="solid"/>
          </a:ln>
        </p:spPr>
      </p:sp>
      <p:sp>
        <p:nvSpPr>
          <p:cNvPr id="7" name="Text 5"/>
          <p:cNvSpPr/>
          <p:nvPr/>
        </p:nvSpPr>
        <p:spPr>
          <a:xfrm>
            <a:off x="8138160" y="1737360"/>
            <a:ext cx="1371600" cy="685800"/>
          </a:xfrm>
          <a:prstGeom prst="rect">
            <a:avLst/>
          </a:prstGeom>
          <a:noFill/>
          <a:ln/>
        </p:spPr>
        <p:txBody>
          <a:bodyPr wrap="square" lIns="0" tIns="0" rIns="0" bIns="0" rtlCol="0" anchor="ctr"/>
          <a:lstStyle/>
          <a:p>
            <a:pPr indent="0" marL="0">
              <a:buNone/>
            </a:pPr>
            <a:r>
              <a:rPr lang="en-US" sz="4000" b="1" dirty="0">
                <a:solidFill>
                  <a:srgbClr val="C85A2E"/>
                </a:solidFill>
                <a:latin typeface="Cambria" pitchFamily="34" charset="0"/>
                <a:ea typeface="Cambria" pitchFamily="34" charset="-122"/>
                <a:cs typeface="Cambria" pitchFamily="34" charset="-120"/>
              </a:rPr>
              <a:t>5</a:t>
            </a:r>
            <a:endParaRPr lang="en-US" sz="4000" dirty="0"/>
          </a:p>
        </p:txBody>
      </p:sp>
      <p:sp>
        <p:nvSpPr>
          <p:cNvPr id="8" name="Text 6"/>
          <p:cNvSpPr/>
          <p:nvPr/>
        </p:nvSpPr>
        <p:spPr>
          <a:xfrm>
            <a:off x="9464040" y="1984248"/>
            <a:ext cx="1920240" cy="457200"/>
          </a:xfrm>
          <a:prstGeom prst="rect">
            <a:avLst/>
          </a:prstGeom>
          <a:noFill/>
          <a:ln/>
        </p:spPr>
        <p:txBody>
          <a:bodyPr wrap="square" lIns="0" tIns="0" rIns="0" bIns="0" rtlCol="0" anchor="ctr"/>
          <a:lstStyle/>
          <a:p>
            <a:pPr indent="0" marL="0">
              <a:buNone/>
            </a:pPr>
            <a:r>
              <a:rPr lang="en-US" sz="1300" dirty="0">
                <a:solidFill>
                  <a:srgbClr val="5A5A52"/>
                </a:solidFill>
                <a:latin typeface="Calibri" pitchFamily="34" charset="0"/>
                <a:ea typeface="Calibri" pitchFamily="34" charset="-122"/>
                <a:cs typeface="Calibri" pitchFamily="34" charset="-120"/>
              </a:rPr>
              <a:t>AI agents</a:t>
            </a:r>
            <a:endParaRPr lang="en-US" sz="1300" dirty="0"/>
          </a:p>
        </p:txBody>
      </p:sp>
      <p:sp>
        <p:nvSpPr>
          <p:cNvPr id="9" name="Shape 7"/>
          <p:cNvSpPr/>
          <p:nvPr/>
        </p:nvSpPr>
        <p:spPr>
          <a:xfrm>
            <a:off x="7955280" y="3017520"/>
            <a:ext cx="3566160" cy="1234440"/>
          </a:xfrm>
          <a:prstGeom prst="roundRect">
            <a:avLst>
              <a:gd name="adj" fmla="val 4444"/>
            </a:avLst>
          </a:prstGeom>
          <a:solidFill>
            <a:srgbClr val="FFFFFF"/>
          </a:solidFill>
          <a:ln w="12700">
            <a:solidFill>
              <a:srgbClr val="E3DDCE"/>
            </a:solidFill>
            <a:prstDash val="solid"/>
          </a:ln>
        </p:spPr>
      </p:sp>
      <p:sp>
        <p:nvSpPr>
          <p:cNvPr id="10" name="Text 8"/>
          <p:cNvSpPr/>
          <p:nvPr/>
        </p:nvSpPr>
        <p:spPr>
          <a:xfrm>
            <a:off x="8138160" y="3154680"/>
            <a:ext cx="1371600" cy="685800"/>
          </a:xfrm>
          <a:prstGeom prst="rect">
            <a:avLst/>
          </a:prstGeom>
          <a:noFill/>
          <a:ln/>
        </p:spPr>
        <p:txBody>
          <a:bodyPr wrap="square" lIns="0" tIns="0" rIns="0" bIns="0" rtlCol="0" anchor="ctr"/>
          <a:lstStyle/>
          <a:p>
            <a:pPr indent="0" marL="0">
              <a:buNone/>
            </a:pPr>
            <a:r>
              <a:rPr lang="en-US" sz="4000" b="1" dirty="0">
                <a:solidFill>
                  <a:srgbClr val="C85A2E"/>
                </a:solidFill>
                <a:latin typeface="Cambria" pitchFamily="34" charset="0"/>
                <a:ea typeface="Cambria" pitchFamily="34" charset="-122"/>
                <a:cs typeface="Cambria" pitchFamily="34" charset="-120"/>
              </a:rPr>
              <a:t>12</a:t>
            </a:r>
            <a:endParaRPr lang="en-US" sz="4000" dirty="0"/>
          </a:p>
        </p:txBody>
      </p:sp>
      <p:sp>
        <p:nvSpPr>
          <p:cNvPr id="11" name="Text 9"/>
          <p:cNvSpPr/>
          <p:nvPr/>
        </p:nvSpPr>
        <p:spPr>
          <a:xfrm>
            <a:off x="9464040" y="3401568"/>
            <a:ext cx="1920240" cy="457200"/>
          </a:xfrm>
          <a:prstGeom prst="rect">
            <a:avLst/>
          </a:prstGeom>
          <a:noFill/>
          <a:ln/>
        </p:spPr>
        <p:txBody>
          <a:bodyPr wrap="square" lIns="0" tIns="0" rIns="0" bIns="0" rtlCol="0" anchor="ctr"/>
          <a:lstStyle/>
          <a:p>
            <a:pPr indent="0" marL="0">
              <a:buNone/>
            </a:pPr>
            <a:r>
              <a:rPr lang="en-US" sz="1300" dirty="0">
                <a:solidFill>
                  <a:srgbClr val="5A5A52"/>
                </a:solidFill>
                <a:latin typeface="Calibri" pitchFamily="34" charset="0"/>
                <a:ea typeface="Calibri" pitchFamily="34" charset="-122"/>
                <a:cs typeface="Calibri" pitchFamily="34" charset="-120"/>
              </a:rPr>
              <a:t>ranked stops</a:t>
            </a:r>
            <a:endParaRPr lang="en-US" sz="1300" dirty="0"/>
          </a:p>
        </p:txBody>
      </p:sp>
      <p:sp>
        <p:nvSpPr>
          <p:cNvPr id="12" name="Shape 10"/>
          <p:cNvSpPr/>
          <p:nvPr/>
        </p:nvSpPr>
        <p:spPr>
          <a:xfrm>
            <a:off x="7955280" y="4434840"/>
            <a:ext cx="3566160" cy="1234440"/>
          </a:xfrm>
          <a:prstGeom prst="roundRect">
            <a:avLst>
              <a:gd name="adj" fmla="val 4444"/>
            </a:avLst>
          </a:prstGeom>
          <a:solidFill>
            <a:srgbClr val="FFFFFF"/>
          </a:solidFill>
          <a:ln w="12700">
            <a:solidFill>
              <a:srgbClr val="E3DDCE"/>
            </a:solidFill>
            <a:prstDash val="solid"/>
          </a:ln>
        </p:spPr>
      </p:sp>
      <p:sp>
        <p:nvSpPr>
          <p:cNvPr id="13" name="Text 11"/>
          <p:cNvSpPr/>
          <p:nvPr/>
        </p:nvSpPr>
        <p:spPr>
          <a:xfrm>
            <a:off x="8138160" y="4572000"/>
            <a:ext cx="1371600" cy="685800"/>
          </a:xfrm>
          <a:prstGeom prst="rect">
            <a:avLst/>
          </a:prstGeom>
          <a:noFill/>
          <a:ln/>
        </p:spPr>
        <p:txBody>
          <a:bodyPr wrap="square" lIns="0" tIns="0" rIns="0" bIns="0" rtlCol="0" anchor="ctr"/>
          <a:lstStyle/>
          <a:p>
            <a:pPr indent="0" marL="0">
              <a:buNone/>
            </a:pPr>
            <a:r>
              <a:rPr lang="en-US" sz="4000" b="1" dirty="0">
                <a:solidFill>
                  <a:srgbClr val="C85A2E"/>
                </a:solidFill>
                <a:latin typeface="Cambria" pitchFamily="34" charset="0"/>
                <a:ea typeface="Cambria" pitchFamily="34" charset="-122"/>
                <a:cs typeface="Cambria" pitchFamily="34" charset="-120"/>
              </a:rPr>
              <a:t>60</a:t>
            </a:r>
            <a:endParaRPr lang="en-US" sz="4000" dirty="0"/>
          </a:p>
        </p:txBody>
      </p:sp>
      <p:sp>
        <p:nvSpPr>
          <p:cNvPr id="14" name="Text 12"/>
          <p:cNvSpPr/>
          <p:nvPr/>
        </p:nvSpPr>
        <p:spPr>
          <a:xfrm>
            <a:off x="9464040" y="4818888"/>
            <a:ext cx="1920240" cy="457200"/>
          </a:xfrm>
          <a:prstGeom prst="rect">
            <a:avLst/>
          </a:prstGeom>
          <a:noFill/>
          <a:ln/>
        </p:spPr>
        <p:txBody>
          <a:bodyPr wrap="square" lIns="0" tIns="0" rIns="0" bIns="0" rtlCol="0" anchor="ctr"/>
          <a:lstStyle/>
          <a:p>
            <a:pPr indent="0" marL="0">
              <a:buNone/>
            </a:pPr>
            <a:r>
              <a:rPr lang="en-US" sz="1300" dirty="0">
                <a:solidFill>
                  <a:srgbClr val="5A5A52"/>
                </a:solidFill>
                <a:latin typeface="Calibri" pitchFamily="34" charset="0"/>
                <a:ea typeface="Calibri" pitchFamily="34" charset="-122"/>
                <a:cs typeface="Calibri" pitchFamily="34" charset="-120"/>
              </a:rPr>
              <a:t>ms warm cache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02</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Introduction</a:t>
            </a:r>
            <a:endParaRPr lang="en-US" sz="3400" dirty="0"/>
          </a:p>
        </p:txBody>
      </p:sp>
      <p:sp>
        <p:nvSpPr>
          <p:cNvPr id="4" name="Text 2"/>
          <p:cNvSpPr/>
          <p:nvPr/>
        </p:nvSpPr>
        <p:spPr>
          <a:xfrm>
            <a:off x="640080" y="1737360"/>
            <a:ext cx="6766560"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4100E"/>
                </a:solidFill>
                <a:latin typeface="Calibri" pitchFamily="34" charset="0"/>
                <a:ea typeface="Calibri" pitchFamily="34" charset="-122"/>
                <a:cs typeface="Calibri" pitchFamily="34" charset="-120"/>
              </a:rPr>
              <a:t>Road travel is the dominant mode of long-distance domestic tourism in India, yet trip planning remains largely manual.</a:t>
            </a:r>
            <a:endParaRPr lang="en-US" sz="1500" dirty="0"/>
          </a:p>
          <a:p>
            <a:pPr marL="342900" indent="-342900">
              <a:spcAft>
                <a:spcPts val="800"/>
              </a:spcAft>
              <a:buSzPct val="100000"/>
              <a:buChar char="•"/>
            </a:pPr>
            <a:r>
              <a:rPr lang="en-US" sz="1500" dirty="0">
                <a:solidFill>
                  <a:srgbClr val="14100E"/>
                </a:solidFill>
                <a:latin typeface="Calibri" pitchFamily="34" charset="0"/>
                <a:ea typeface="Calibri" pitchFamily="34" charset="-122"/>
                <a:cs typeface="Calibri" pitchFamily="34" charset="-120"/>
              </a:rPr>
              <a:t>A drive from Delhi to Jaipur passes Neemrana's fort, Shahpura's kachori shops and dozens of heritage sites — most travellers never learn they exist.</a:t>
            </a:r>
            <a:endParaRPr lang="en-US" sz="1500" dirty="0"/>
          </a:p>
          <a:p>
            <a:pPr marL="342900" indent="-342900">
              <a:spcAft>
                <a:spcPts val="800"/>
              </a:spcAft>
              <a:buSzPct val="100000"/>
              <a:buChar char="•"/>
            </a:pPr>
            <a:r>
              <a:rPr lang="en-US" sz="1500" dirty="0">
                <a:solidFill>
                  <a:srgbClr val="14100E"/>
                </a:solidFill>
                <a:latin typeface="Calibri" pitchFamily="34" charset="0"/>
                <a:ea typeface="Calibri" pitchFamily="34" charset="-122"/>
                <a:cs typeface="Calibri" pitchFamily="34" charset="-120"/>
              </a:rPr>
              <a:t>Existing navigation tools optimise for arrival time. They answer “how do I get there?” but never “what is worth stopping for?”</a:t>
            </a:r>
            <a:endParaRPr lang="en-US" sz="1500" dirty="0"/>
          </a:p>
          <a:p>
            <a:pPr marL="342900" indent="-342900">
              <a:spcAft>
                <a:spcPts val="800"/>
              </a:spcAft>
              <a:buSzPct val="100000"/>
              <a:buChar char="•"/>
            </a:pPr>
            <a:r>
              <a:rPr lang="en-US" sz="1500" dirty="0">
                <a:solidFill>
                  <a:srgbClr val="14100E"/>
                </a:solidFill>
                <a:latin typeface="Calibri" pitchFamily="34" charset="0"/>
                <a:ea typeface="Calibri" pitchFamily="34" charset="-122"/>
                <a:cs typeface="Calibri" pitchFamily="34" charset="-120"/>
              </a:rPr>
              <a:t>Rahgir reframes the journey itself as the product: the road is not dead time between two cities, it is the trip.</a:t>
            </a:r>
            <a:endParaRPr lang="en-US" sz="1500" dirty="0"/>
          </a:p>
          <a:p>
            <a:pPr marL="342900" indent="-342900">
              <a:spcAft>
                <a:spcPts val="800"/>
              </a:spcAft>
              <a:buSzPct val="100000"/>
              <a:buChar char="•"/>
            </a:pPr>
            <a:r>
              <a:rPr lang="en-US" sz="1500" dirty="0">
                <a:solidFill>
                  <a:srgbClr val="14100E"/>
                </a:solidFill>
                <a:latin typeface="Calibri" pitchFamily="34" charset="0"/>
                <a:ea typeface="Calibri" pitchFamily="34" charset="-122"/>
                <a:cs typeface="Calibri" pitchFamily="34" charset="-120"/>
              </a:rPr>
              <a:t>The system accepts a start and destination, applies the traveller's chosen interests, and returns an editable, narrated plan.</a:t>
            </a:r>
            <a:endParaRPr lang="en-US" sz="1500" dirty="0"/>
          </a:p>
        </p:txBody>
      </p:sp>
      <p:sp>
        <p:nvSpPr>
          <p:cNvPr id="5" name="Shape 3"/>
          <p:cNvSpPr/>
          <p:nvPr/>
        </p:nvSpPr>
        <p:spPr>
          <a:xfrm>
            <a:off x="7863840" y="1737360"/>
            <a:ext cx="3657600" cy="3840480"/>
          </a:xfrm>
          <a:prstGeom prst="roundRect">
            <a:avLst>
              <a:gd name="adj" fmla="val 1500"/>
            </a:avLst>
          </a:prstGeom>
          <a:solidFill>
            <a:srgbClr val="F4F1EA"/>
          </a:solidFill>
          <a:ln w="12700">
            <a:solidFill>
              <a:srgbClr val="E3DDCE"/>
            </a:solidFill>
            <a:prstDash val="solid"/>
          </a:ln>
        </p:spPr>
      </p:sp>
      <p:sp>
        <p:nvSpPr>
          <p:cNvPr id="6" name="Text 4"/>
          <p:cNvSpPr/>
          <p:nvPr/>
        </p:nvSpPr>
        <p:spPr>
          <a:xfrm>
            <a:off x="8092440" y="1965960"/>
            <a:ext cx="3200400" cy="274320"/>
          </a:xfrm>
          <a:prstGeom prst="rect">
            <a:avLst/>
          </a:prstGeom>
          <a:noFill/>
          <a:ln/>
        </p:spPr>
        <p:txBody>
          <a:bodyPr wrap="square" lIns="0" tIns="0" rIns="0" bIns="0" rtlCol="0" anchor="ctr"/>
          <a:lstStyle/>
          <a:p>
            <a:pPr indent="0" marL="0">
              <a:buNone/>
            </a:pPr>
            <a:r>
              <a:rPr lang="en-US" sz="1000" b="1" spc="250" kern="0" dirty="0">
                <a:solidFill>
                  <a:srgbClr val="C85A2E"/>
                </a:solidFill>
                <a:latin typeface="Calibri" pitchFamily="34" charset="0"/>
                <a:ea typeface="Calibri" pitchFamily="34" charset="-122"/>
                <a:cs typeface="Calibri" pitchFamily="34" charset="-120"/>
              </a:rPr>
              <a:t>THE IDEA</a:t>
            </a:r>
            <a:endParaRPr lang="en-US" sz="1000" dirty="0"/>
          </a:p>
        </p:txBody>
      </p:sp>
      <p:sp>
        <p:nvSpPr>
          <p:cNvPr id="7" name="Text 5"/>
          <p:cNvSpPr/>
          <p:nvPr/>
        </p:nvSpPr>
        <p:spPr>
          <a:xfrm>
            <a:off x="8092440" y="2377440"/>
            <a:ext cx="3200400" cy="2194560"/>
          </a:xfrm>
          <a:prstGeom prst="rect">
            <a:avLst/>
          </a:prstGeom>
          <a:noFill/>
          <a:ln/>
        </p:spPr>
        <p:txBody>
          <a:bodyPr wrap="square" lIns="0" tIns="0" rIns="0" bIns="0" rtlCol="0" anchor="ctr"/>
          <a:lstStyle/>
          <a:p>
            <a:pPr indent="0" marL="0">
              <a:lnSpc>
                <a:spcPct val="130000"/>
              </a:lnSpc>
              <a:buNone/>
            </a:pPr>
            <a:r>
              <a:rPr lang="en-US" sz="1500" i="1" dirty="0">
                <a:solidFill>
                  <a:srgbClr val="14100E"/>
                </a:solidFill>
                <a:latin typeface="Cambria" pitchFamily="34" charset="0"/>
                <a:ea typeface="Cambria" pitchFamily="34" charset="-122"/>
                <a:cs typeface="Cambria" pitchFamily="34" charset="-120"/>
              </a:rPr>
              <a:t>A milestone answers two questions at once — where am I, and how much further?</a:t>
            </a:r>
            <a:endParaRPr lang="en-US" sz="1500" dirty="0"/>
          </a:p>
          <a:p>
            <a:pPr indent="0" marL="0">
              <a:lnSpc>
                <a:spcPct val="130000"/>
              </a:lnSpc>
              <a:buNone/>
            </a:pPr>
            <a:endParaRPr lang="en-US" sz="1500" dirty="0"/>
          </a:p>
          <a:p>
            <a:pPr indent="0" marL="0">
              <a:lnSpc>
                <a:spcPct val="130000"/>
              </a:lnSpc>
              <a:buNone/>
            </a:pPr>
            <a:r>
              <a:rPr lang="en-US" sz="1500" i="1" dirty="0">
                <a:solidFill>
                  <a:srgbClr val="14100E"/>
                </a:solidFill>
                <a:latin typeface="Cambria" pitchFamily="34" charset="0"/>
                <a:ea typeface="Cambria" pitchFamily="34" charset="-122"/>
                <a:cs typeface="Cambria" pitchFamily="34" charset="-120"/>
              </a:rPr>
              <a:t>An itinerary answers exactly the same two questions.</a:t>
            </a:r>
            <a:endParaRPr lang="en-US" sz="1500" dirty="0"/>
          </a:p>
          <a:p>
            <a:pPr indent="0" marL="0">
              <a:lnSpc>
                <a:spcPct val="130000"/>
              </a:lnSpc>
              <a:buNone/>
            </a:pPr>
            <a:endParaRPr lang="en-US" sz="1500" dirty="0"/>
          </a:p>
          <a:p>
            <a:pPr indent="0" marL="0">
              <a:lnSpc>
                <a:spcPct val="130000"/>
              </a:lnSpc>
              <a:buNone/>
            </a:pPr>
            <a:r>
              <a:rPr lang="en-US" sz="1500" i="1" dirty="0">
                <a:solidFill>
                  <a:srgbClr val="14100E"/>
                </a:solidFill>
                <a:latin typeface="Cambria" pitchFamily="34" charset="0"/>
                <a:ea typeface="Cambria" pitchFamily="34" charset="-122"/>
                <a:cs typeface="Cambria" pitchFamily="34" charset="-120"/>
              </a:rPr>
              <a:t>Rahgir is built on that idea.</a:t>
            </a:r>
            <a:endParaRPr lang="en-US" sz="1500" dirty="0"/>
          </a:p>
        </p:txBody>
      </p:sp>
      <p:sp>
        <p:nvSpPr>
          <p:cNvPr id="8" name="Shape 6"/>
          <p:cNvSpPr/>
          <p:nvPr/>
        </p:nvSpPr>
        <p:spPr>
          <a:xfrm>
            <a:off x="9418320" y="4480560"/>
            <a:ext cx="822960" cy="1053389"/>
          </a:xfrm>
          <a:prstGeom prst="roundRect">
            <a:avLst>
              <a:gd name="adj" fmla="val 50000"/>
            </a:avLst>
          </a:prstGeom>
          <a:solidFill>
            <a:srgbClr val="F4F1EA"/>
          </a:solidFill>
          <a:ln w="15875">
            <a:solidFill>
              <a:srgbClr val="14100E"/>
            </a:solidFill>
            <a:prstDash val="solid"/>
          </a:ln>
        </p:spPr>
      </p:sp>
      <p:sp>
        <p:nvSpPr>
          <p:cNvPr id="9" name="Shape 7"/>
          <p:cNvSpPr/>
          <p:nvPr/>
        </p:nvSpPr>
        <p:spPr>
          <a:xfrm>
            <a:off x="9418320" y="4480560"/>
            <a:ext cx="822960" cy="421356"/>
          </a:xfrm>
          <a:prstGeom prst="roundRect">
            <a:avLst>
              <a:gd name="adj" fmla="val 97656"/>
            </a:avLst>
          </a:prstGeom>
          <a:solidFill>
            <a:srgbClr val="F2B01E"/>
          </a:solidFill>
          <a:ln/>
        </p:spPr>
      </p:sp>
      <p:sp>
        <p:nvSpPr>
          <p:cNvPr id="10" name="Text 8"/>
          <p:cNvSpPr/>
          <p:nvPr/>
        </p:nvSpPr>
        <p:spPr>
          <a:xfrm>
            <a:off x="9418320" y="4859780"/>
            <a:ext cx="822960" cy="653101"/>
          </a:xfrm>
          <a:prstGeom prst="rect">
            <a:avLst/>
          </a:prstGeom>
          <a:noFill/>
          <a:ln/>
        </p:spPr>
        <p:txBody>
          <a:bodyPr wrap="square" lIns="0" tIns="0" rIns="0" bIns="0" rtlCol="0" anchor="ctr"/>
          <a:lstStyle/>
          <a:p>
            <a:pPr algn="ctr" indent="0" marL="0">
              <a:buNone/>
            </a:pPr>
            <a:r>
              <a:rPr lang="en-US" sz="1800" b="1" dirty="0">
                <a:solidFill>
                  <a:srgbClr val="14100E"/>
                </a:solidFill>
                <a:latin typeface="Cambria" pitchFamily="34" charset="0"/>
                <a:ea typeface="Cambria" pitchFamily="34" charset="-122"/>
                <a:cs typeface="Cambria" pitchFamily="34" charset="-120"/>
              </a:rPr>
              <a:t>48</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03</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Problem Statement</a:t>
            </a:r>
            <a:endParaRPr lang="en-US" sz="3400" dirty="0"/>
          </a:p>
        </p:txBody>
      </p:sp>
      <p:sp>
        <p:nvSpPr>
          <p:cNvPr id="4" name="Shape 2"/>
          <p:cNvSpPr/>
          <p:nvPr/>
        </p:nvSpPr>
        <p:spPr>
          <a:xfrm>
            <a:off x="640080" y="1737360"/>
            <a:ext cx="5212080" cy="1874520"/>
          </a:xfrm>
          <a:prstGeom prst="roundRect">
            <a:avLst>
              <a:gd name="adj" fmla="val 2927"/>
            </a:avLst>
          </a:prstGeom>
          <a:solidFill>
            <a:srgbClr val="F4F1EA"/>
          </a:solidFill>
          <a:ln w="12700">
            <a:solidFill>
              <a:srgbClr val="E3DDCE"/>
            </a:solidFill>
            <a:prstDash val="solid"/>
          </a:ln>
        </p:spPr>
      </p:sp>
      <p:sp>
        <p:nvSpPr>
          <p:cNvPr id="5" name="Shape 3"/>
          <p:cNvSpPr/>
          <p:nvPr/>
        </p:nvSpPr>
        <p:spPr>
          <a:xfrm>
            <a:off x="914400" y="2011680"/>
            <a:ext cx="457200" cy="457200"/>
          </a:xfrm>
          <a:prstGeom prst="ellipse">
            <a:avLst/>
          </a:prstGeom>
          <a:solidFill>
            <a:srgbClr val="C85A2E"/>
          </a:solidFill>
          <a:ln/>
        </p:spPr>
      </p:sp>
      <p:sp>
        <p:nvSpPr>
          <p:cNvPr id="6" name="Text 4"/>
          <p:cNvSpPr/>
          <p:nvPr/>
        </p:nvSpPr>
        <p:spPr>
          <a:xfrm>
            <a:off x="914400" y="2011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508760" y="2011680"/>
            <a:ext cx="411480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Invisible local value</a:t>
            </a:r>
            <a:endParaRPr lang="en-US" sz="1600" dirty="0"/>
          </a:p>
        </p:txBody>
      </p:sp>
      <p:sp>
        <p:nvSpPr>
          <p:cNvPr id="8" name="Text 6"/>
          <p:cNvSpPr/>
          <p:nvPr/>
        </p:nvSpPr>
        <p:spPr>
          <a:xfrm>
            <a:off x="1508760" y="2450592"/>
            <a:ext cx="4114800" cy="960120"/>
          </a:xfrm>
          <a:prstGeom prst="rect">
            <a:avLst/>
          </a:prstGeom>
          <a:noFill/>
          <a:ln/>
        </p:spPr>
        <p:txBody>
          <a:bodyPr wrap="square" lIns="0" tIns="0" rIns="0" bIns="0" rtlCol="0" anchor="ctr"/>
          <a:lstStyle/>
          <a:p>
            <a:pPr indent="0" marL="0">
              <a:lnSpc>
                <a:spcPct val="120000"/>
              </a:lnSpc>
              <a:buNone/>
            </a:pPr>
            <a:r>
              <a:rPr lang="en-US" sz="1250" dirty="0">
                <a:solidFill>
                  <a:srgbClr val="5A5A52"/>
                </a:solidFill>
                <a:latin typeface="Calibri" pitchFamily="34" charset="0"/>
                <a:ea typeface="Calibri" pitchFamily="34" charset="-122"/>
                <a:cs typeface="Calibri" pitchFamily="34" charset="-120"/>
              </a:rPr>
              <a:t>Travellers drive past craft towns, forts and famous food stops without ever knowing they were there.</a:t>
            </a:r>
            <a:endParaRPr lang="en-US" sz="1250" dirty="0"/>
          </a:p>
        </p:txBody>
      </p:sp>
      <p:sp>
        <p:nvSpPr>
          <p:cNvPr id="9" name="Shape 7"/>
          <p:cNvSpPr/>
          <p:nvPr/>
        </p:nvSpPr>
        <p:spPr>
          <a:xfrm>
            <a:off x="6217920" y="1737360"/>
            <a:ext cx="5212080" cy="1874520"/>
          </a:xfrm>
          <a:prstGeom prst="roundRect">
            <a:avLst>
              <a:gd name="adj" fmla="val 2927"/>
            </a:avLst>
          </a:prstGeom>
          <a:solidFill>
            <a:srgbClr val="F4F1EA"/>
          </a:solidFill>
          <a:ln w="12700">
            <a:solidFill>
              <a:srgbClr val="E3DDCE"/>
            </a:solidFill>
            <a:prstDash val="solid"/>
          </a:ln>
        </p:spPr>
      </p:sp>
      <p:sp>
        <p:nvSpPr>
          <p:cNvPr id="10" name="Shape 8"/>
          <p:cNvSpPr/>
          <p:nvPr/>
        </p:nvSpPr>
        <p:spPr>
          <a:xfrm>
            <a:off x="6492240" y="2011680"/>
            <a:ext cx="457200" cy="457200"/>
          </a:xfrm>
          <a:prstGeom prst="ellipse">
            <a:avLst/>
          </a:prstGeom>
          <a:solidFill>
            <a:srgbClr val="C85A2E"/>
          </a:solidFill>
          <a:ln/>
        </p:spPr>
      </p:sp>
      <p:sp>
        <p:nvSpPr>
          <p:cNvPr id="11" name="Text 9"/>
          <p:cNvSpPr/>
          <p:nvPr/>
        </p:nvSpPr>
        <p:spPr>
          <a:xfrm>
            <a:off x="6492240" y="2011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086600" y="2011680"/>
            <a:ext cx="411480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Point search, not route search</a:t>
            </a:r>
            <a:endParaRPr lang="en-US" sz="1600" dirty="0"/>
          </a:p>
        </p:txBody>
      </p:sp>
      <p:sp>
        <p:nvSpPr>
          <p:cNvPr id="13" name="Text 11"/>
          <p:cNvSpPr/>
          <p:nvPr/>
        </p:nvSpPr>
        <p:spPr>
          <a:xfrm>
            <a:off x="7086600" y="2450592"/>
            <a:ext cx="4114800" cy="960120"/>
          </a:xfrm>
          <a:prstGeom prst="rect">
            <a:avLst/>
          </a:prstGeom>
          <a:noFill/>
          <a:ln/>
        </p:spPr>
        <p:txBody>
          <a:bodyPr wrap="square" lIns="0" tIns="0" rIns="0" bIns="0" rtlCol="0" anchor="ctr"/>
          <a:lstStyle/>
          <a:p>
            <a:pPr indent="0" marL="0">
              <a:lnSpc>
                <a:spcPct val="120000"/>
              </a:lnSpc>
              <a:buNone/>
            </a:pPr>
            <a:r>
              <a:rPr lang="en-US" sz="1250" dirty="0">
                <a:solidFill>
                  <a:srgbClr val="5A5A52"/>
                </a:solidFill>
                <a:latin typeface="Calibri" pitchFamily="34" charset="0"/>
                <a:ea typeface="Calibri" pitchFamily="34" charset="-122"/>
                <a:cs typeface="Calibri" pitchFamily="34" charset="-120"/>
              </a:rPr>
              <a:t>Map services return places near a coordinate. They have no concept of detour cost from a route.</a:t>
            </a:r>
            <a:endParaRPr lang="en-US" sz="1250" dirty="0"/>
          </a:p>
        </p:txBody>
      </p:sp>
      <p:sp>
        <p:nvSpPr>
          <p:cNvPr id="14" name="Shape 12"/>
          <p:cNvSpPr/>
          <p:nvPr/>
        </p:nvSpPr>
        <p:spPr>
          <a:xfrm>
            <a:off x="640080" y="3886200"/>
            <a:ext cx="5212080" cy="1874520"/>
          </a:xfrm>
          <a:prstGeom prst="roundRect">
            <a:avLst>
              <a:gd name="adj" fmla="val 2927"/>
            </a:avLst>
          </a:prstGeom>
          <a:solidFill>
            <a:srgbClr val="F4F1EA"/>
          </a:solidFill>
          <a:ln w="12700">
            <a:solidFill>
              <a:srgbClr val="E3DDCE"/>
            </a:solidFill>
            <a:prstDash val="solid"/>
          </a:ln>
        </p:spPr>
      </p:sp>
      <p:sp>
        <p:nvSpPr>
          <p:cNvPr id="15" name="Shape 13"/>
          <p:cNvSpPr/>
          <p:nvPr/>
        </p:nvSpPr>
        <p:spPr>
          <a:xfrm>
            <a:off x="914400" y="4160520"/>
            <a:ext cx="457200" cy="457200"/>
          </a:xfrm>
          <a:prstGeom prst="ellipse">
            <a:avLst/>
          </a:prstGeom>
          <a:solidFill>
            <a:srgbClr val="C85A2E"/>
          </a:solidFill>
          <a:ln/>
        </p:spPr>
      </p:sp>
      <p:sp>
        <p:nvSpPr>
          <p:cNvPr id="16" name="Text 14"/>
          <p:cNvSpPr/>
          <p:nvPr/>
        </p:nvSpPr>
        <p:spPr>
          <a:xfrm>
            <a:off x="914400" y="4160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508760" y="4160520"/>
            <a:ext cx="411480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Manual, generic research</a:t>
            </a:r>
            <a:endParaRPr lang="en-US" sz="1600" dirty="0"/>
          </a:p>
        </p:txBody>
      </p:sp>
      <p:sp>
        <p:nvSpPr>
          <p:cNvPr id="18" name="Text 16"/>
          <p:cNvSpPr/>
          <p:nvPr/>
        </p:nvSpPr>
        <p:spPr>
          <a:xfrm>
            <a:off x="1508760" y="4599432"/>
            <a:ext cx="4114800" cy="960120"/>
          </a:xfrm>
          <a:prstGeom prst="rect">
            <a:avLst/>
          </a:prstGeom>
          <a:noFill/>
          <a:ln/>
        </p:spPr>
        <p:txBody>
          <a:bodyPr wrap="square" lIns="0" tIns="0" rIns="0" bIns="0" rtlCol="0" anchor="ctr"/>
          <a:lstStyle/>
          <a:p>
            <a:pPr indent="0" marL="0">
              <a:lnSpc>
                <a:spcPct val="120000"/>
              </a:lnSpc>
              <a:buNone/>
            </a:pPr>
            <a:r>
              <a:rPr lang="en-US" sz="1250" dirty="0">
                <a:solidFill>
                  <a:srgbClr val="5A5A52"/>
                </a:solidFill>
                <a:latin typeface="Calibri" pitchFamily="34" charset="0"/>
                <a:ea typeface="Calibri" pitchFamily="34" charset="-122"/>
                <a:cs typeface="Calibri" pitchFamily="34" charset="-120"/>
              </a:rPr>
              <a:t>Travel blogs cover only popular corridors, are not personalised, and require hours of reading.</a:t>
            </a:r>
            <a:endParaRPr lang="en-US" sz="1250" dirty="0"/>
          </a:p>
        </p:txBody>
      </p:sp>
      <p:sp>
        <p:nvSpPr>
          <p:cNvPr id="19" name="Shape 17"/>
          <p:cNvSpPr/>
          <p:nvPr/>
        </p:nvSpPr>
        <p:spPr>
          <a:xfrm>
            <a:off x="6217920" y="3886200"/>
            <a:ext cx="5212080" cy="1874520"/>
          </a:xfrm>
          <a:prstGeom prst="roundRect">
            <a:avLst>
              <a:gd name="adj" fmla="val 2927"/>
            </a:avLst>
          </a:prstGeom>
          <a:solidFill>
            <a:srgbClr val="F4F1EA"/>
          </a:solidFill>
          <a:ln w="12700">
            <a:solidFill>
              <a:srgbClr val="E3DDCE"/>
            </a:solidFill>
            <a:prstDash val="solid"/>
          </a:ln>
        </p:spPr>
      </p:sp>
      <p:sp>
        <p:nvSpPr>
          <p:cNvPr id="20" name="Shape 18"/>
          <p:cNvSpPr/>
          <p:nvPr/>
        </p:nvSpPr>
        <p:spPr>
          <a:xfrm>
            <a:off x="6492240" y="4160520"/>
            <a:ext cx="457200" cy="457200"/>
          </a:xfrm>
          <a:prstGeom prst="ellipse">
            <a:avLst/>
          </a:prstGeom>
          <a:solidFill>
            <a:srgbClr val="C85A2E"/>
          </a:solidFill>
          <a:ln/>
        </p:spPr>
      </p:sp>
      <p:sp>
        <p:nvSpPr>
          <p:cNvPr id="21" name="Text 19"/>
          <p:cNvSpPr/>
          <p:nvPr/>
        </p:nvSpPr>
        <p:spPr>
          <a:xfrm>
            <a:off x="6492240" y="4160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86600" y="4160520"/>
            <a:ext cx="411480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No unified system</a:t>
            </a:r>
            <a:endParaRPr lang="en-US" sz="1600" dirty="0"/>
          </a:p>
        </p:txBody>
      </p:sp>
      <p:sp>
        <p:nvSpPr>
          <p:cNvPr id="23" name="Text 21"/>
          <p:cNvSpPr/>
          <p:nvPr/>
        </p:nvSpPr>
        <p:spPr>
          <a:xfrm>
            <a:off x="7086600" y="4599432"/>
            <a:ext cx="4114800" cy="960120"/>
          </a:xfrm>
          <a:prstGeom prst="rect">
            <a:avLst/>
          </a:prstGeom>
          <a:noFill/>
          <a:ln/>
        </p:spPr>
        <p:txBody>
          <a:bodyPr wrap="square" lIns="0" tIns="0" rIns="0" bIns="0" rtlCol="0" anchor="ctr"/>
          <a:lstStyle/>
          <a:p>
            <a:pPr indent="0" marL="0">
              <a:lnSpc>
                <a:spcPct val="120000"/>
              </a:lnSpc>
              <a:buNone/>
            </a:pPr>
            <a:r>
              <a:rPr lang="en-US" sz="1250" dirty="0">
                <a:solidFill>
                  <a:srgbClr val="5A5A52"/>
                </a:solidFill>
                <a:latin typeface="Calibri" pitchFamily="34" charset="0"/>
                <a:ea typeface="Calibri" pitchFamily="34" charset="-122"/>
                <a:cs typeface="Calibri" pitchFamily="34" charset="-120"/>
              </a:rPr>
              <a:t>No single tool combines route geometry, arrival times, local knowledge and conversational Q&amp;A.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04</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Objectives</a:t>
            </a:r>
            <a:endParaRPr lang="en-US" sz="3400" dirty="0"/>
          </a:p>
        </p:txBody>
      </p:sp>
      <p:sp>
        <p:nvSpPr>
          <p:cNvPr id="4" name="Shape 2"/>
          <p:cNvSpPr/>
          <p:nvPr/>
        </p:nvSpPr>
        <p:spPr>
          <a:xfrm>
            <a:off x="640080" y="1691640"/>
            <a:ext cx="457200" cy="457200"/>
          </a:xfrm>
          <a:prstGeom prst="roundRect">
            <a:avLst>
              <a:gd name="adj" fmla="val 40000"/>
            </a:avLst>
          </a:prstGeom>
          <a:solidFill>
            <a:srgbClr val="14663F"/>
          </a:solidFill>
          <a:ln/>
        </p:spPr>
      </p:sp>
      <p:sp>
        <p:nvSpPr>
          <p:cNvPr id="5" name="Text 3"/>
          <p:cNvSpPr/>
          <p:nvPr/>
        </p:nvSpPr>
        <p:spPr>
          <a:xfrm>
            <a:off x="640080"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298448" y="1719072"/>
            <a:ext cx="10241280" cy="457200"/>
          </a:xfrm>
          <a:prstGeom prst="rect">
            <a:avLst/>
          </a:prstGeom>
          <a:noFill/>
          <a:ln/>
        </p:spPr>
        <p:txBody>
          <a:bodyPr wrap="square" lIns="0" tIns="0" rIns="0" bIns="0" rtlCol="0" anchor="ctr"/>
          <a:lstStyle/>
          <a:p>
            <a:pPr indent="0" marL="0">
              <a:buNone/>
            </a:pPr>
            <a:r>
              <a:rPr lang="en-US" sz="1450" dirty="0">
                <a:solidFill>
                  <a:srgbClr val="14100E"/>
                </a:solidFill>
                <a:latin typeface="Calibri" pitchFamily="34" charset="0"/>
                <a:ea typeface="Calibri" pitchFamily="34" charset="-122"/>
                <a:cs typeface="Calibri" pitchFamily="34" charset="-120"/>
              </a:rPr>
              <a:t>Discover culturally significant places along an entire route, not merely near a point.</a:t>
            </a:r>
            <a:endParaRPr lang="en-US" sz="1450" dirty="0"/>
          </a:p>
        </p:txBody>
      </p:sp>
      <p:sp>
        <p:nvSpPr>
          <p:cNvPr id="7" name="Shape 5"/>
          <p:cNvSpPr/>
          <p:nvPr/>
        </p:nvSpPr>
        <p:spPr>
          <a:xfrm>
            <a:off x="640080" y="2450592"/>
            <a:ext cx="457200" cy="457200"/>
          </a:xfrm>
          <a:prstGeom prst="roundRect">
            <a:avLst>
              <a:gd name="adj" fmla="val 40000"/>
            </a:avLst>
          </a:prstGeom>
          <a:solidFill>
            <a:srgbClr val="14663F"/>
          </a:solidFill>
          <a:ln/>
        </p:spPr>
      </p:sp>
      <p:sp>
        <p:nvSpPr>
          <p:cNvPr id="8" name="Text 6"/>
          <p:cNvSpPr/>
          <p:nvPr/>
        </p:nvSpPr>
        <p:spPr>
          <a:xfrm>
            <a:off x="640080" y="24505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298448" y="2478024"/>
            <a:ext cx="10241280" cy="457200"/>
          </a:xfrm>
          <a:prstGeom prst="rect">
            <a:avLst/>
          </a:prstGeom>
          <a:noFill/>
          <a:ln/>
        </p:spPr>
        <p:txBody>
          <a:bodyPr wrap="square" lIns="0" tIns="0" rIns="0" bIns="0" rtlCol="0" anchor="ctr"/>
          <a:lstStyle/>
          <a:p>
            <a:pPr indent="0" marL="0">
              <a:buNone/>
            </a:pPr>
            <a:r>
              <a:rPr lang="en-US" sz="1450" dirty="0">
                <a:solidFill>
                  <a:srgbClr val="14100E"/>
                </a:solidFill>
                <a:latin typeface="Calibri" pitchFamily="34" charset="0"/>
                <a:ea typeface="Calibri" pitchFamily="34" charset="-122"/>
                <a:cs typeface="Calibri" pitchFamily="34" charset="-120"/>
              </a:rPr>
              <a:t>Constrain every suggestion by a user-defined detour budget so the schedule is never derailed.</a:t>
            </a:r>
            <a:endParaRPr lang="en-US" sz="1450" dirty="0"/>
          </a:p>
        </p:txBody>
      </p:sp>
      <p:sp>
        <p:nvSpPr>
          <p:cNvPr id="10" name="Shape 8"/>
          <p:cNvSpPr/>
          <p:nvPr/>
        </p:nvSpPr>
        <p:spPr>
          <a:xfrm>
            <a:off x="640080" y="3209544"/>
            <a:ext cx="457200" cy="457200"/>
          </a:xfrm>
          <a:prstGeom prst="roundRect">
            <a:avLst>
              <a:gd name="adj" fmla="val 40000"/>
            </a:avLst>
          </a:prstGeom>
          <a:solidFill>
            <a:srgbClr val="14663F"/>
          </a:solidFill>
          <a:ln/>
        </p:spPr>
      </p:sp>
      <p:sp>
        <p:nvSpPr>
          <p:cNvPr id="11" name="Text 9"/>
          <p:cNvSpPr/>
          <p:nvPr/>
        </p:nvSpPr>
        <p:spPr>
          <a:xfrm>
            <a:off x="640080" y="32095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298448" y="3236976"/>
            <a:ext cx="10241280" cy="457200"/>
          </a:xfrm>
          <a:prstGeom prst="rect">
            <a:avLst/>
          </a:prstGeom>
          <a:noFill/>
          <a:ln/>
        </p:spPr>
        <p:txBody>
          <a:bodyPr wrap="square" lIns="0" tIns="0" rIns="0" bIns="0" rtlCol="0" anchor="ctr"/>
          <a:lstStyle/>
          <a:p>
            <a:pPr indent="0" marL="0">
              <a:buNone/>
            </a:pPr>
            <a:r>
              <a:rPr lang="en-US" sz="1450" dirty="0">
                <a:solidFill>
                  <a:srgbClr val="14100E"/>
                </a:solidFill>
                <a:latin typeface="Calibri" pitchFamily="34" charset="0"/>
                <a:ea typeface="Calibri" pitchFamily="34" charset="-122"/>
                <a:cs typeface="Calibri" pitchFamily="34" charset="-120"/>
              </a:rPr>
              <a:t>Make suggestions time-aware — meals at meal times, viewpoints at golden hour.</a:t>
            </a:r>
            <a:endParaRPr lang="en-US" sz="1450" dirty="0"/>
          </a:p>
        </p:txBody>
      </p:sp>
      <p:sp>
        <p:nvSpPr>
          <p:cNvPr id="13" name="Shape 11"/>
          <p:cNvSpPr/>
          <p:nvPr/>
        </p:nvSpPr>
        <p:spPr>
          <a:xfrm>
            <a:off x="640080" y="3968496"/>
            <a:ext cx="457200" cy="457200"/>
          </a:xfrm>
          <a:prstGeom prst="roundRect">
            <a:avLst>
              <a:gd name="adj" fmla="val 40000"/>
            </a:avLst>
          </a:prstGeom>
          <a:solidFill>
            <a:srgbClr val="14663F"/>
          </a:solidFill>
          <a:ln/>
        </p:spPr>
      </p:sp>
      <p:sp>
        <p:nvSpPr>
          <p:cNvPr id="14" name="Text 12"/>
          <p:cNvSpPr/>
          <p:nvPr/>
        </p:nvSpPr>
        <p:spPr>
          <a:xfrm>
            <a:off x="640080" y="39684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298448" y="3995928"/>
            <a:ext cx="10241280" cy="457200"/>
          </a:xfrm>
          <a:prstGeom prst="rect">
            <a:avLst/>
          </a:prstGeom>
          <a:noFill/>
          <a:ln/>
        </p:spPr>
        <p:txBody>
          <a:bodyPr wrap="square" lIns="0" tIns="0" rIns="0" bIns="0" rtlCol="0" anchor="ctr"/>
          <a:lstStyle/>
          <a:p>
            <a:pPr indent="0" marL="0">
              <a:buNone/>
            </a:pPr>
            <a:r>
              <a:rPr lang="en-US" sz="1450" dirty="0">
                <a:solidFill>
                  <a:srgbClr val="14100E"/>
                </a:solidFill>
                <a:latin typeface="Calibri" pitchFamily="34" charset="0"/>
                <a:ea typeface="Calibri" pitchFamily="34" charset="-122"/>
                <a:cs typeface="Calibri" pitchFamily="34" charset="-120"/>
              </a:rPr>
              <a:t>Rank stops using a transparent, explainable scoring function rather than an opaque model.</a:t>
            </a:r>
            <a:endParaRPr lang="en-US" sz="1450" dirty="0"/>
          </a:p>
        </p:txBody>
      </p:sp>
      <p:sp>
        <p:nvSpPr>
          <p:cNvPr id="16" name="Shape 14"/>
          <p:cNvSpPr/>
          <p:nvPr/>
        </p:nvSpPr>
        <p:spPr>
          <a:xfrm>
            <a:off x="640080" y="4727448"/>
            <a:ext cx="457200" cy="457200"/>
          </a:xfrm>
          <a:prstGeom prst="roundRect">
            <a:avLst>
              <a:gd name="adj" fmla="val 40000"/>
            </a:avLst>
          </a:prstGeom>
          <a:solidFill>
            <a:srgbClr val="14663F"/>
          </a:solidFill>
          <a:ln/>
        </p:spPr>
      </p:sp>
      <p:sp>
        <p:nvSpPr>
          <p:cNvPr id="17" name="Text 15"/>
          <p:cNvSpPr/>
          <p:nvPr/>
        </p:nvSpPr>
        <p:spPr>
          <a:xfrm>
            <a:off x="640080" y="47274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298448" y="4754880"/>
            <a:ext cx="10241280" cy="457200"/>
          </a:xfrm>
          <a:prstGeom prst="rect">
            <a:avLst/>
          </a:prstGeom>
          <a:noFill/>
          <a:ln/>
        </p:spPr>
        <p:txBody>
          <a:bodyPr wrap="square" lIns="0" tIns="0" rIns="0" bIns="0" rtlCol="0" anchor="ctr"/>
          <a:lstStyle/>
          <a:p>
            <a:pPr indent="0" marL="0">
              <a:buNone/>
            </a:pPr>
            <a:r>
              <a:rPr lang="en-US" sz="1450" dirty="0">
                <a:solidFill>
                  <a:srgbClr val="14100E"/>
                </a:solidFill>
                <a:latin typeface="Calibri" pitchFamily="34" charset="0"/>
                <a:ea typeface="Calibri" pitchFamily="34" charset="-122"/>
                <a:cs typeface="Calibri" pitchFamily="34" charset="-120"/>
              </a:rPr>
              <a:t>Narrate the itinerary in a warm, local voice while remaining strictly grounded in fetched data.</a:t>
            </a:r>
            <a:endParaRPr lang="en-US" sz="1450" dirty="0"/>
          </a:p>
        </p:txBody>
      </p:sp>
      <p:sp>
        <p:nvSpPr>
          <p:cNvPr id="19" name="Shape 17"/>
          <p:cNvSpPr/>
          <p:nvPr/>
        </p:nvSpPr>
        <p:spPr>
          <a:xfrm>
            <a:off x="640080" y="5486400"/>
            <a:ext cx="457200" cy="457200"/>
          </a:xfrm>
          <a:prstGeom prst="roundRect">
            <a:avLst>
              <a:gd name="adj" fmla="val 40000"/>
            </a:avLst>
          </a:prstGeom>
          <a:solidFill>
            <a:srgbClr val="14663F"/>
          </a:solidFill>
          <a:ln/>
        </p:spPr>
      </p:sp>
      <p:sp>
        <p:nvSpPr>
          <p:cNvPr id="20" name="Text 18"/>
          <p:cNvSpPr/>
          <p:nvPr/>
        </p:nvSpPr>
        <p:spPr>
          <a:xfrm>
            <a:off x="640080" y="5486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298448" y="5513832"/>
            <a:ext cx="10241280" cy="457200"/>
          </a:xfrm>
          <a:prstGeom prst="rect">
            <a:avLst/>
          </a:prstGeom>
          <a:noFill/>
          <a:ln/>
        </p:spPr>
        <p:txBody>
          <a:bodyPr wrap="square" lIns="0" tIns="0" rIns="0" bIns="0" rtlCol="0" anchor="ctr"/>
          <a:lstStyle/>
          <a:p>
            <a:pPr indent="0" marL="0">
              <a:buNone/>
            </a:pPr>
            <a:r>
              <a:rPr lang="en-US" sz="1450" dirty="0">
                <a:solidFill>
                  <a:srgbClr val="14100E"/>
                </a:solidFill>
                <a:latin typeface="Calibri" pitchFamily="34" charset="0"/>
                <a:ea typeface="Calibri" pitchFamily="34" charset="-122"/>
                <a:cs typeface="Calibri" pitchFamily="34" charset="-120"/>
              </a:rPr>
              <a:t>Deliver a responsive, accessible interface usable one-handed at a petrol pump.</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05</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Literature Survey / Existing Systems</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2468880"/>
                <a:gridCol w="4114800"/>
                <a:gridCol w="4297680"/>
              </a:tblGrid>
              <a:tr h="62179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System</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146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Approach</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146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Limitation</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14663F"/>
                    </a:solidFill>
                  </a:tcPr>
                </a:tc>
              </a:tr>
              <a:tr h="621792">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Google Maps</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Fastest route; POIs near a searched point</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No route-wide discovery; no detour-budget concept</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621792">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TripAdvisor / Wanderlog</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Crowd reviews; manual itinerary building</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Destination-centric; the drive itself is ignored</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621792">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Roadtrippers (US)</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Route-based POI discovery</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Coverage largely North America; weak Indian data</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621792">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Generic LLM chatbots</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Free-text itinerary generation</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Hallucinates places; no real route geometry or ETA</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621792">
                <a:tc>
                  <a:txBody>
                    <a:bodyPr/>
                    <a:lstStyle/>
                    <a:p>
                      <a:pPr indent="0" marL="0">
                        <a:buNone/>
                      </a:pPr>
                      <a:r>
                        <a:rPr lang="en-US" sz="1150" b="1" dirty="0">
                          <a:solidFill>
                            <a:srgbClr val="14663F"/>
                          </a:solidFill>
                          <a:latin typeface="Calibri" pitchFamily="34" charset="0"/>
                          <a:ea typeface="Calibri" pitchFamily="34" charset="-122"/>
                          <a:cs typeface="Calibri" pitchFamily="34" charset="-120"/>
                        </a:rPr>
                        <a:t>Rahgir (proposed)</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b="1" dirty="0">
                          <a:solidFill>
                            <a:srgbClr val="14100E"/>
                          </a:solidFill>
                          <a:latin typeface="Calibri" pitchFamily="34" charset="0"/>
                          <a:ea typeface="Calibri" pitchFamily="34" charset="-122"/>
                          <a:cs typeface="Calibri" pitchFamily="34" charset="-120"/>
                        </a:rPr>
                        <a:t>Route sampling + ranked discovery + grounded narration</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150" dirty="0">
                          <a:solidFill>
                            <a:srgbClr val="14100E"/>
                          </a:solidFill>
                          <a:latin typeface="Calibri" pitchFamily="34" charset="0"/>
                          <a:ea typeface="Calibri" pitchFamily="34" charset="-122"/>
                          <a:cs typeface="Calibri" pitchFamily="34" charset="-120"/>
                        </a:rPr>
                        <a:t>Costs estimated; POI density varies in tier-3 areas</a:t>
                      </a:r>
                      <a:endParaRPr lang="en-US" sz="115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06</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Proposed System</a:t>
            </a:r>
            <a:endParaRPr lang="en-US" sz="3400" dirty="0"/>
          </a:p>
        </p:txBody>
      </p:sp>
      <p:sp>
        <p:nvSpPr>
          <p:cNvPr id="4" name="Text 2"/>
          <p:cNvSpPr/>
          <p:nvPr/>
        </p:nvSpPr>
        <p:spPr>
          <a:xfrm>
            <a:off x="640080" y="1737360"/>
            <a:ext cx="6675120" cy="402336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4100E"/>
                </a:solidFill>
                <a:latin typeface="Calibri" pitchFamily="34" charset="0"/>
                <a:ea typeface="Calibri" pitchFamily="34" charset="-122"/>
                <a:cs typeface="Calibri" pitchFamily="34" charset="-120"/>
              </a:rPr>
              <a:t>The traveller supplies a starting point, a destination and optional preferences in plain language (Hindi, English or both).</a:t>
            </a:r>
            <a:endParaRPr lang="en-US" sz="1450" dirty="0"/>
          </a:p>
          <a:p>
            <a:pPr marL="342900" indent="-342900">
              <a:spcAft>
                <a:spcPts val="800"/>
              </a:spcAft>
              <a:buSzPct val="100000"/>
              <a:buChar char="•"/>
            </a:pPr>
            <a:r>
              <a:rPr lang="en-US" sz="1450" dirty="0">
                <a:solidFill>
                  <a:srgbClr val="14100E"/>
                </a:solidFill>
                <a:latin typeface="Calibri" pitchFamily="34" charset="0"/>
                <a:ea typeface="Calibri" pitchFamily="34" charset="-122"/>
                <a:cs typeface="Calibri" pitchFamily="34" charset="-120"/>
              </a:rPr>
              <a:t>A LangGraph orchestrator runs five specialised agents in sequence over a shared trip state.</a:t>
            </a:r>
            <a:endParaRPr lang="en-US" sz="1450" dirty="0"/>
          </a:p>
          <a:p>
            <a:pPr marL="342900" indent="-342900">
              <a:spcAft>
                <a:spcPts val="800"/>
              </a:spcAft>
              <a:buSzPct val="100000"/>
              <a:buChar char="•"/>
            </a:pPr>
            <a:r>
              <a:rPr lang="en-US" sz="1450" dirty="0">
                <a:solidFill>
                  <a:srgbClr val="14100E"/>
                </a:solidFill>
                <a:latin typeface="Calibri" pitchFamily="34" charset="0"/>
                <a:ea typeface="Calibri" pitchFamily="34" charset="-122"/>
                <a:cs typeface="Calibri" pitchFamily="34" charset="-120"/>
              </a:rPr>
              <a:t>The route is sampled every 25 km into waypoints, each carrying an estimated time of arrival.</a:t>
            </a:r>
            <a:endParaRPr lang="en-US" sz="1450" dirty="0"/>
          </a:p>
          <a:p>
            <a:pPr marL="342900" indent="-342900">
              <a:spcAft>
                <a:spcPts val="800"/>
              </a:spcAft>
              <a:buSzPct val="100000"/>
              <a:buChar char="•"/>
            </a:pPr>
            <a:r>
              <a:rPr lang="en-US" sz="1450" dirty="0">
                <a:solidFill>
                  <a:srgbClr val="14100E"/>
                </a:solidFill>
                <a:latin typeface="Calibri" pitchFamily="34" charset="0"/>
                <a:ea typeface="Calibri" pitchFamily="34" charset="-122"/>
                <a:cs typeface="Calibri" pitchFamily="34" charset="-120"/>
              </a:rPr>
              <a:t>Points of interest are fetched around every waypoint concurrently, then de-duplicated across overlapping radii.</a:t>
            </a:r>
            <a:endParaRPr lang="en-US" sz="1450" dirty="0"/>
          </a:p>
          <a:p>
            <a:pPr marL="342900" indent="-342900">
              <a:spcAft>
                <a:spcPts val="800"/>
              </a:spcAft>
              <a:buSzPct val="100000"/>
              <a:buChar char="•"/>
            </a:pPr>
            <a:r>
              <a:rPr lang="en-US" sz="1450" dirty="0">
                <a:solidFill>
                  <a:srgbClr val="14100E"/>
                </a:solidFill>
                <a:latin typeface="Calibri" pitchFamily="34" charset="0"/>
                <a:ea typeface="Calibri" pitchFamily="34" charset="-122"/>
                <a:cs typeface="Calibri" pitchFamily="34" charset="-120"/>
              </a:rPr>
              <a:t>Candidates are scored, filtered by detour budget and spread evenly along the corridor.</a:t>
            </a:r>
            <a:endParaRPr lang="en-US" sz="1450" dirty="0"/>
          </a:p>
          <a:p>
            <a:pPr marL="342900" indent="-342900">
              <a:spcAft>
                <a:spcPts val="800"/>
              </a:spcAft>
              <a:buSzPct val="100000"/>
              <a:buChar char="•"/>
            </a:pPr>
            <a:r>
              <a:rPr lang="en-US" sz="1450" dirty="0">
                <a:solidFill>
                  <a:srgbClr val="14100E"/>
                </a:solidFill>
                <a:latin typeface="Calibri" pitchFamily="34" charset="0"/>
                <a:ea typeface="Calibri" pitchFamily="34" charset="-122"/>
                <a:cs typeface="Calibri" pitchFamily="34" charset="-120"/>
              </a:rPr>
              <a:t>An LLM narrates the final plan, explicitly constrained to describe only the places actually retrieved.</a:t>
            </a:r>
            <a:endParaRPr lang="en-US" sz="1450" dirty="0"/>
          </a:p>
        </p:txBody>
      </p:sp>
      <p:sp>
        <p:nvSpPr>
          <p:cNvPr id="5" name="Shape 3"/>
          <p:cNvSpPr/>
          <p:nvPr/>
        </p:nvSpPr>
        <p:spPr>
          <a:xfrm>
            <a:off x="7772400" y="1737360"/>
            <a:ext cx="3749040" cy="3931920"/>
          </a:xfrm>
          <a:prstGeom prst="roundRect">
            <a:avLst>
              <a:gd name="adj" fmla="val 1463"/>
            </a:avLst>
          </a:prstGeom>
          <a:solidFill>
            <a:srgbClr val="F4F1EA"/>
          </a:solidFill>
          <a:ln w="12700">
            <a:solidFill>
              <a:srgbClr val="E3DDCE"/>
            </a:solidFill>
            <a:prstDash val="solid"/>
          </a:ln>
        </p:spPr>
      </p:sp>
      <p:sp>
        <p:nvSpPr>
          <p:cNvPr id="6" name="Text 4"/>
          <p:cNvSpPr/>
          <p:nvPr/>
        </p:nvSpPr>
        <p:spPr>
          <a:xfrm>
            <a:off x="8001000" y="1965960"/>
            <a:ext cx="3291840" cy="274320"/>
          </a:xfrm>
          <a:prstGeom prst="rect">
            <a:avLst/>
          </a:prstGeom>
          <a:noFill/>
          <a:ln/>
        </p:spPr>
        <p:txBody>
          <a:bodyPr wrap="square" lIns="0" tIns="0" rIns="0" bIns="0" rtlCol="0" anchor="ctr"/>
          <a:lstStyle/>
          <a:p>
            <a:pPr indent="0" marL="0">
              <a:buNone/>
            </a:pPr>
            <a:r>
              <a:rPr lang="en-US" sz="1000" b="1" spc="250" kern="0" dirty="0">
                <a:solidFill>
                  <a:srgbClr val="C85A2E"/>
                </a:solidFill>
                <a:latin typeface="Calibri" pitchFamily="34" charset="0"/>
                <a:ea typeface="Calibri" pitchFamily="34" charset="-122"/>
                <a:cs typeface="Calibri" pitchFamily="34" charset="-120"/>
              </a:rPr>
              <a:t>KEY DISTINCTION</a:t>
            </a:r>
            <a:endParaRPr lang="en-US" sz="1000" dirty="0"/>
          </a:p>
        </p:txBody>
      </p:sp>
      <p:sp>
        <p:nvSpPr>
          <p:cNvPr id="7" name="Text 5"/>
          <p:cNvSpPr/>
          <p:nvPr/>
        </p:nvSpPr>
        <p:spPr>
          <a:xfrm>
            <a:off x="8001000" y="2377440"/>
            <a:ext cx="3291840" cy="3017520"/>
          </a:xfrm>
          <a:prstGeom prst="rect">
            <a:avLst/>
          </a:prstGeom>
          <a:noFill/>
          <a:ln/>
        </p:spPr>
        <p:txBody>
          <a:bodyPr wrap="square" lIns="0" tIns="0" rIns="0" bIns="0" rtlCol="0" anchor="ctr"/>
          <a:lstStyle/>
          <a:p>
            <a:pPr indent="0" marL="0">
              <a:lnSpc>
                <a:spcPct val="135000"/>
              </a:lnSpc>
              <a:buNone/>
            </a:pPr>
            <a:r>
              <a:rPr lang="en-US" sz="1450" i="1" dirty="0">
                <a:solidFill>
                  <a:srgbClr val="14100E"/>
                </a:solidFill>
                <a:latin typeface="Cambria" pitchFamily="34" charset="0"/>
                <a:ea typeface="Cambria" pitchFamily="34" charset="-122"/>
                <a:cs typeface="Cambria" pitchFamily="34" charset="-120"/>
              </a:rPr>
              <a:t>Conventional search asks:</a:t>
            </a:r>
            <a:endParaRPr lang="en-US" sz="1450" dirty="0"/>
          </a:p>
          <a:p>
            <a:pPr indent="0" marL="0">
              <a:lnSpc>
                <a:spcPct val="135000"/>
              </a:lnSpc>
              <a:buNone/>
            </a:pPr>
            <a:r>
              <a:rPr lang="en-US" sz="1450" i="1" dirty="0">
                <a:solidFill>
                  <a:srgbClr val="14100E"/>
                </a:solidFill>
                <a:latin typeface="Cambria" pitchFamily="34" charset="0"/>
                <a:ea typeface="Cambria" pitchFamily="34" charset="-122"/>
                <a:cs typeface="Cambria" pitchFamily="34" charset="-120"/>
              </a:rPr>
              <a:t>“What is near this point?”</a:t>
            </a:r>
            <a:endParaRPr lang="en-US" sz="1450" dirty="0"/>
          </a:p>
          <a:p>
            <a:pPr indent="0" marL="0">
              <a:lnSpc>
                <a:spcPct val="135000"/>
              </a:lnSpc>
              <a:buNone/>
            </a:pPr>
            <a:endParaRPr lang="en-US" sz="1450" dirty="0"/>
          </a:p>
          <a:p>
            <a:pPr indent="0" marL="0">
              <a:lnSpc>
                <a:spcPct val="135000"/>
              </a:lnSpc>
              <a:buNone/>
            </a:pPr>
            <a:r>
              <a:rPr lang="en-US" sz="1450" i="1" dirty="0">
                <a:solidFill>
                  <a:srgbClr val="14100E"/>
                </a:solidFill>
                <a:latin typeface="Cambria" pitchFamily="34" charset="0"/>
                <a:ea typeface="Cambria" pitchFamily="34" charset="-122"/>
                <a:cs typeface="Cambria" pitchFamily="34" charset="-120"/>
              </a:rPr>
              <a:t>Rahgir asks:</a:t>
            </a:r>
            <a:endParaRPr lang="en-US" sz="1450" dirty="0"/>
          </a:p>
          <a:p>
            <a:pPr indent="0" marL="0">
              <a:lnSpc>
                <a:spcPct val="135000"/>
              </a:lnSpc>
              <a:buNone/>
            </a:pPr>
            <a:r>
              <a:rPr lang="en-US" sz="1450" i="1" dirty="0">
                <a:solidFill>
                  <a:srgbClr val="14100E"/>
                </a:solidFill>
                <a:latin typeface="Cambria" pitchFamily="34" charset="0"/>
                <a:ea typeface="Cambria" pitchFamily="34" charset="-122"/>
                <a:cs typeface="Cambria" pitchFamily="34" charset="-120"/>
              </a:rPr>
              <a:t>“What is worth stopping for, between these two points, given my time budget?”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System Architecture</a:t>
            </a:r>
            <a:endParaRPr lang="en-US" sz="3400" dirty="0"/>
          </a:p>
        </p:txBody>
      </p:sp>
      <p:sp>
        <p:nvSpPr>
          <p:cNvPr id="4" name="Text 2"/>
          <p:cNvSpPr/>
          <p:nvPr/>
        </p:nvSpPr>
        <p:spPr>
          <a:xfrm>
            <a:off x="640080" y="1481328"/>
            <a:ext cx="10881360" cy="274320"/>
          </a:xfrm>
          <a:prstGeom prst="rect">
            <a:avLst/>
          </a:prstGeom>
          <a:noFill/>
          <a:ln/>
        </p:spPr>
        <p:txBody>
          <a:bodyPr wrap="square" lIns="0" tIns="0" rIns="0" bIns="0" rtlCol="0" anchor="ctr"/>
          <a:lstStyle/>
          <a:p>
            <a:pPr indent="0" marL="0">
              <a:buNone/>
            </a:pPr>
            <a:r>
              <a:rPr lang="en-US" sz="1200" i="1" dirty="0">
                <a:solidFill>
                  <a:srgbClr val="5A5A52"/>
                </a:solidFill>
                <a:latin typeface="Calibri" pitchFamily="34" charset="0"/>
                <a:ea typeface="Calibri" pitchFamily="34" charset="-122"/>
                <a:cs typeface="Calibri" pitchFamily="34" charset="-120"/>
              </a:rPr>
              <a:t>LangGraph pipeline — each node is an independent agent operating on a shared TripState</a:t>
            </a:r>
            <a:endParaRPr lang="en-US" sz="1200" dirty="0"/>
          </a:p>
        </p:txBody>
      </p:sp>
      <p:sp>
        <p:nvSpPr>
          <p:cNvPr id="5" name="Shape 3"/>
          <p:cNvSpPr/>
          <p:nvPr/>
        </p:nvSpPr>
        <p:spPr>
          <a:xfrm>
            <a:off x="640080" y="1965960"/>
            <a:ext cx="1965960" cy="1737360"/>
          </a:xfrm>
          <a:prstGeom prst="roundRect">
            <a:avLst>
              <a:gd name="adj" fmla="val 3158"/>
            </a:avLst>
          </a:prstGeom>
          <a:solidFill>
            <a:srgbClr val="FFFFFF"/>
          </a:solidFill>
          <a:ln w="12700">
            <a:solidFill>
              <a:srgbClr val="E3DDCE"/>
            </a:solidFill>
            <a:prstDash val="solid"/>
          </a:ln>
        </p:spPr>
      </p:sp>
      <p:sp>
        <p:nvSpPr>
          <p:cNvPr id="6" name="Shape 4"/>
          <p:cNvSpPr/>
          <p:nvPr/>
        </p:nvSpPr>
        <p:spPr>
          <a:xfrm>
            <a:off x="777240" y="2103120"/>
            <a:ext cx="384048" cy="384048"/>
          </a:xfrm>
          <a:prstGeom prst="ellipse">
            <a:avLst/>
          </a:prstGeom>
          <a:solidFill>
            <a:srgbClr val="14663F"/>
          </a:solidFill>
          <a:ln/>
        </p:spPr>
      </p:sp>
      <p:sp>
        <p:nvSpPr>
          <p:cNvPr id="7" name="Text 5"/>
          <p:cNvSpPr/>
          <p:nvPr/>
        </p:nvSpPr>
        <p:spPr>
          <a:xfrm>
            <a:off x="777240" y="21031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1261872" y="2121408"/>
            <a:ext cx="1280160" cy="347472"/>
          </a:xfrm>
          <a:prstGeom prst="rect">
            <a:avLst/>
          </a:prstGeom>
          <a:noFill/>
          <a:ln/>
        </p:spPr>
        <p:txBody>
          <a:bodyPr wrap="square" lIns="0" tIns="0" rIns="0" bIns="0" rtlCol="0" anchor="ctr"/>
          <a:lstStyle/>
          <a:p>
            <a:pPr indent="0" marL="0">
              <a:buNone/>
            </a:pPr>
            <a:r>
              <a:rPr lang="en-US" sz="1300" b="1" dirty="0">
                <a:solidFill>
                  <a:srgbClr val="14100E"/>
                </a:solidFill>
                <a:latin typeface="Cambria" pitchFamily="34" charset="0"/>
                <a:ea typeface="Cambria" pitchFamily="34" charset="-122"/>
                <a:cs typeface="Cambria" pitchFamily="34" charset="-120"/>
              </a:rPr>
              <a:t>ROUTE</a:t>
            </a:r>
            <a:endParaRPr lang="en-US" sz="1300" dirty="0"/>
          </a:p>
        </p:txBody>
      </p:sp>
      <p:sp>
        <p:nvSpPr>
          <p:cNvPr id="9" name="Text 7"/>
          <p:cNvSpPr/>
          <p:nvPr/>
        </p:nvSpPr>
        <p:spPr>
          <a:xfrm>
            <a:off x="777240" y="2606040"/>
            <a:ext cx="1691640" cy="960120"/>
          </a:xfrm>
          <a:prstGeom prst="rect">
            <a:avLst/>
          </a:prstGeom>
          <a:noFill/>
          <a:ln/>
        </p:spPr>
        <p:txBody>
          <a:bodyPr wrap="square" lIns="0" tIns="0" rIns="0" bIns="0" rtlCol="0" anchor="ctr"/>
          <a:lstStyle/>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Geocode both cities;</a:t>
            </a:r>
            <a:endParaRPr lang="en-US" sz="1050" dirty="0"/>
          </a:p>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fetch drivable geometry</a:t>
            </a:r>
            <a:endParaRPr lang="en-US" sz="1050" dirty="0"/>
          </a:p>
        </p:txBody>
      </p:sp>
      <p:sp>
        <p:nvSpPr>
          <p:cNvPr id="10" name="Text 8"/>
          <p:cNvSpPr/>
          <p:nvPr/>
        </p:nvSpPr>
        <p:spPr>
          <a:xfrm>
            <a:off x="2606040" y="2606040"/>
            <a:ext cx="274320" cy="365760"/>
          </a:xfrm>
          <a:prstGeom prst="rect">
            <a:avLst/>
          </a:prstGeom>
          <a:noFill/>
          <a:ln/>
        </p:spPr>
        <p:txBody>
          <a:bodyPr wrap="square" lIns="0" tIns="0" rIns="0" bIns="0" rtlCol="0" anchor="ctr"/>
          <a:lstStyle/>
          <a:p>
            <a:pPr algn="ctr" indent="0" marL="0">
              <a:buNone/>
            </a:pPr>
            <a:r>
              <a:rPr lang="en-US" sz="1600" dirty="0">
                <a:solidFill>
                  <a:srgbClr val="C85A2E"/>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880360" y="1965960"/>
            <a:ext cx="1965960" cy="1737360"/>
          </a:xfrm>
          <a:prstGeom prst="roundRect">
            <a:avLst>
              <a:gd name="adj" fmla="val 3158"/>
            </a:avLst>
          </a:prstGeom>
          <a:solidFill>
            <a:srgbClr val="FFFFFF"/>
          </a:solidFill>
          <a:ln w="12700">
            <a:solidFill>
              <a:srgbClr val="E3DDCE"/>
            </a:solidFill>
            <a:prstDash val="solid"/>
          </a:ln>
        </p:spPr>
      </p:sp>
      <p:sp>
        <p:nvSpPr>
          <p:cNvPr id="12" name="Shape 10"/>
          <p:cNvSpPr/>
          <p:nvPr/>
        </p:nvSpPr>
        <p:spPr>
          <a:xfrm>
            <a:off x="3017520" y="2103120"/>
            <a:ext cx="384048" cy="384048"/>
          </a:xfrm>
          <a:prstGeom prst="ellipse">
            <a:avLst/>
          </a:prstGeom>
          <a:solidFill>
            <a:srgbClr val="14663F"/>
          </a:solidFill>
          <a:ln/>
        </p:spPr>
      </p:sp>
      <p:sp>
        <p:nvSpPr>
          <p:cNvPr id="13" name="Text 11"/>
          <p:cNvSpPr/>
          <p:nvPr/>
        </p:nvSpPr>
        <p:spPr>
          <a:xfrm>
            <a:off x="3017520" y="21031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3502152" y="2121408"/>
            <a:ext cx="1280160" cy="347472"/>
          </a:xfrm>
          <a:prstGeom prst="rect">
            <a:avLst/>
          </a:prstGeom>
          <a:noFill/>
          <a:ln/>
        </p:spPr>
        <p:txBody>
          <a:bodyPr wrap="square" lIns="0" tIns="0" rIns="0" bIns="0" rtlCol="0" anchor="ctr"/>
          <a:lstStyle/>
          <a:p>
            <a:pPr indent="0" marL="0">
              <a:buNone/>
            </a:pPr>
            <a:r>
              <a:rPr lang="en-US" sz="1300" b="1" dirty="0">
                <a:solidFill>
                  <a:srgbClr val="14100E"/>
                </a:solidFill>
                <a:latin typeface="Cambria" pitchFamily="34" charset="0"/>
                <a:ea typeface="Cambria" pitchFamily="34" charset="-122"/>
                <a:cs typeface="Cambria" pitchFamily="34" charset="-120"/>
              </a:rPr>
              <a:t>SAMPLE</a:t>
            </a:r>
            <a:endParaRPr lang="en-US" sz="1300" dirty="0"/>
          </a:p>
        </p:txBody>
      </p:sp>
      <p:sp>
        <p:nvSpPr>
          <p:cNvPr id="15" name="Text 13"/>
          <p:cNvSpPr/>
          <p:nvPr/>
        </p:nvSpPr>
        <p:spPr>
          <a:xfrm>
            <a:off x="3017520" y="2606040"/>
            <a:ext cx="1691640" cy="960120"/>
          </a:xfrm>
          <a:prstGeom prst="rect">
            <a:avLst/>
          </a:prstGeom>
          <a:noFill/>
          <a:ln/>
        </p:spPr>
        <p:txBody>
          <a:bodyPr wrap="square" lIns="0" tIns="0" rIns="0" bIns="0" rtlCol="0" anchor="ctr"/>
          <a:lstStyle/>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Split route every 25 km;</a:t>
            </a:r>
            <a:endParaRPr lang="en-US" sz="1050" dirty="0"/>
          </a:p>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compute ETA per waypoint</a:t>
            </a:r>
            <a:endParaRPr lang="en-US" sz="1050" dirty="0"/>
          </a:p>
        </p:txBody>
      </p:sp>
      <p:sp>
        <p:nvSpPr>
          <p:cNvPr id="16" name="Text 14"/>
          <p:cNvSpPr/>
          <p:nvPr/>
        </p:nvSpPr>
        <p:spPr>
          <a:xfrm>
            <a:off x="4846320" y="2606040"/>
            <a:ext cx="274320" cy="365760"/>
          </a:xfrm>
          <a:prstGeom prst="rect">
            <a:avLst/>
          </a:prstGeom>
          <a:noFill/>
          <a:ln/>
        </p:spPr>
        <p:txBody>
          <a:bodyPr wrap="square" lIns="0" tIns="0" rIns="0" bIns="0" rtlCol="0" anchor="ctr"/>
          <a:lstStyle/>
          <a:p>
            <a:pPr algn="ctr" indent="0" marL="0">
              <a:buNone/>
            </a:pPr>
            <a:r>
              <a:rPr lang="en-US" sz="1600" dirty="0">
                <a:solidFill>
                  <a:srgbClr val="C85A2E"/>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5120640" y="1965960"/>
            <a:ext cx="1965960" cy="1737360"/>
          </a:xfrm>
          <a:prstGeom prst="roundRect">
            <a:avLst>
              <a:gd name="adj" fmla="val 3158"/>
            </a:avLst>
          </a:prstGeom>
          <a:solidFill>
            <a:srgbClr val="FFFFFF"/>
          </a:solidFill>
          <a:ln w="12700">
            <a:solidFill>
              <a:srgbClr val="E3DDCE"/>
            </a:solidFill>
            <a:prstDash val="solid"/>
          </a:ln>
        </p:spPr>
      </p:sp>
      <p:sp>
        <p:nvSpPr>
          <p:cNvPr id="18" name="Shape 16"/>
          <p:cNvSpPr/>
          <p:nvPr/>
        </p:nvSpPr>
        <p:spPr>
          <a:xfrm>
            <a:off x="5257800" y="2103120"/>
            <a:ext cx="384048" cy="384048"/>
          </a:xfrm>
          <a:prstGeom prst="ellipse">
            <a:avLst/>
          </a:prstGeom>
          <a:solidFill>
            <a:srgbClr val="14663F"/>
          </a:solidFill>
          <a:ln/>
        </p:spPr>
      </p:sp>
      <p:sp>
        <p:nvSpPr>
          <p:cNvPr id="19" name="Text 17"/>
          <p:cNvSpPr/>
          <p:nvPr/>
        </p:nvSpPr>
        <p:spPr>
          <a:xfrm>
            <a:off x="5257800" y="21031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8"/>
          <p:cNvSpPr/>
          <p:nvPr/>
        </p:nvSpPr>
        <p:spPr>
          <a:xfrm>
            <a:off x="5742432" y="2121408"/>
            <a:ext cx="1280160" cy="347472"/>
          </a:xfrm>
          <a:prstGeom prst="rect">
            <a:avLst/>
          </a:prstGeom>
          <a:noFill/>
          <a:ln/>
        </p:spPr>
        <p:txBody>
          <a:bodyPr wrap="square" lIns="0" tIns="0" rIns="0" bIns="0" rtlCol="0" anchor="ctr"/>
          <a:lstStyle/>
          <a:p>
            <a:pPr indent="0" marL="0">
              <a:buNone/>
            </a:pPr>
            <a:r>
              <a:rPr lang="en-US" sz="1300" b="1" dirty="0">
                <a:solidFill>
                  <a:srgbClr val="14100E"/>
                </a:solidFill>
                <a:latin typeface="Cambria" pitchFamily="34" charset="0"/>
                <a:ea typeface="Cambria" pitchFamily="34" charset="-122"/>
                <a:cs typeface="Cambria" pitchFamily="34" charset="-120"/>
              </a:rPr>
              <a:t>PLACES</a:t>
            </a:r>
            <a:endParaRPr lang="en-US" sz="1300" dirty="0"/>
          </a:p>
        </p:txBody>
      </p:sp>
      <p:sp>
        <p:nvSpPr>
          <p:cNvPr id="21" name="Text 19"/>
          <p:cNvSpPr/>
          <p:nvPr/>
        </p:nvSpPr>
        <p:spPr>
          <a:xfrm>
            <a:off x="5257800" y="2606040"/>
            <a:ext cx="1691640" cy="960120"/>
          </a:xfrm>
          <a:prstGeom prst="rect">
            <a:avLst/>
          </a:prstGeom>
          <a:noFill/>
          <a:ln/>
        </p:spPr>
        <p:txBody>
          <a:bodyPr wrap="square" lIns="0" tIns="0" rIns="0" bIns="0" rtlCol="0" anchor="ctr"/>
          <a:lstStyle/>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Fetch POIs per waypoint</a:t>
            </a:r>
            <a:endParaRPr lang="en-US" sz="1050" dirty="0"/>
          </a:p>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concurrently; de-duplicate</a:t>
            </a:r>
            <a:endParaRPr lang="en-US" sz="1050" dirty="0"/>
          </a:p>
        </p:txBody>
      </p:sp>
      <p:sp>
        <p:nvSpPr>
          <p:cNvPr id="22" name="Text 20"/>
          <p:cNvSpPr/>
          <p:nvPr/>
        </p:nvSpPr>
        <p:spPr>
          <a:xfrm>
            <a:off x="7086600" y="2606040"/>
            <a:ext cx="274320" cy="365760"/>
          </a:xfrm>
          <a:prstGeom prst="rect">
            <a:avLst/>
          </a:prstGeom>
          <a:noFill/>
          <a:ln/>
        </p:spPr>
        <p:txBody>
          <a:bodyPr wrap="square" lIns="0" tIns="0" rIns="0" bIns="0" rtlCol="0" anchor="ctr"/>
          <a:lstStyle/>
          <a:p>
            <a:pPr algn="ctr" indent="0" marL="0">
              <a:buNone/>
            </a:pPr>
            <a:r>
              <a:rPr lang="en-US" sz="1600" dirty="0">
                <a:solidFill>
                  <a:srgbClr val="C85A2E"/>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7360920" y="1965960"/>
            <a:ext cx="1965960" cy="1737360"/>
          </a:xfrm>
          <a:prstGeom prst="roundRect">
            <a:avLst>
              <a:gd name="adj" fmla="val 3158"/>
            </a:avLst>
          </a:prstGeom>
          <a:solidFill>
            <a:srgbClr val="FFFFFF"/>
          </a:solidFill>
          <a:ln w="12700">
            <a:solidFill>
              <a:srgbClr val="E3DDCE"/>
            </a:solidFill>
            <a:prstDash val="solid"/>
          </a:ln>
        </p:spPr>
      </p:sp>
      <p:sp>
        <p:nvSpPr>
          <p:cNvPr id="24" name="Shape 22"/>
          <p:cNvSpPr/>
          <p:nvPr/>
        </p:nvSpPr>
        <p:spPr>
          <a:xfrm>
            <a:off x="7498080" y="2103120"/>
            <a:ext cx="384048" cy="384048"/>
          </a:xfrm>
          <a:prstGeom prst="ellipse">
            <a:avLst/>
          </a:prstGeom>
          <a:solidFill>
            <a:srgbClr val="14663F"/>
          </a:solidFill>
          <a:ln/>
        </p:spPr>
      </p:sp>
      <p:sp>
        <p:nvSpPr>
          <p:cNvPr id="25" name="Text 23"/>
          <p:cNvSpPr/>
          <p:nvPr/>
        </p:nvSpPr>
        <p:spPr>
          <a:xfrm>
            <a:off x="7498080" y="21031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p:nvPr/>
        </p:nvSpPr>
        <p:spPr>
          <a:xfrm>
            <a:off x="7982712" y="2121408"/>
            <a:ext cx="1280160" cy="347472"/>
          </a:xfrm>
          <a:prstGeom prst="rect">
            <a:avLst/>
          </a:prstGeom>
          <a:noFill/>
          <a:ln/>
        </p:spPr>
        <p:txBody>
          <a:bodyPr wrap="square" lIns="0" tIns="0" rIns="0" bIns="0" rtlCol="0" anchor="ctr"/>
          <a:lstStyle/>
          <a:p>
            <a:pPr indent="0" marL="0">
              <a:buNone/>
            </a:pPr>
            <a:r>
              <a:rPr lang="en-US" sz="1300" b="1" dirty="0">
                <a:solidFill>
                  <a:srgbClr val="14100E"/>
                </a:solidFill>
                <a:latin typeface="Cambria" pitchFamily="34" charset="0"/>
                <a:ea typeface="Cambria" pitchFamily="34" charset="-122"/>
                <a:cs typeface="Cambria" pitchFamily="34" charset="-120"/>
              </a:rPr>
              <a:t>RANK</a:t>
            </a:r>
            <a:endParaRPr lang="en-US" sz="1300" dirty="0"/>
          </a:p>
        </p:txBody>
      </p:sp>
      <p:sp>
        <p:nvSpPr>
          <p:cNvPr id="27" name="Text 25"/>
          <p:cNvSpPr/>
          <p:nvPr/>
        </p:nvSpPr>
        <p:spPr>
          <a:xfrm>
            <a:off x="7498080" y="2606040"/>
            <a:ext cx="1691640" cy="960120"/>
          </a:xfrm>
          <a:prstGeom prst="rect">
            <a:avLst/>
          </a:prstGeom>
          <a:noFill/>
          <a:ln/>
        </p:spPr>
        <p:txBody>
          <a:bodyPr wrap="square" lIns="0" tIns="0" rIns="0" bIns="0" rtlCol="0" anchor="ctr"/>
          <a:lstStyle/>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Score, filter by detour</a:t>
            </a:r>
            <a:endParaRPr lang="en-US" sz="1050" dirty="0"/>
          </a:p>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budget, spread evenly</a:t>
            </a:r>
            <a:endParaRPr lang="en-US" sz="1050" dirty="0"/>
          </a:p>
        </p:txBody>
      </p:sp>
      <p:sp>
        <p:nvSpPr>
          <p:cNvPr id="28" name="Text 26"/>
          <p:cNvSpPr/>
          <p:nvPr/>
        </p:nvSpPr>
        <p:spPr>
          <a:xfrm>
            <a:off x="9326880" y="2606040"/>
            <a:ext cx="274320" cy="365760"/>
          </a:xfrm>
          <a:prstGeom prst="rect">
            <a:avLst/>
          </a:prstGeom>
          <a:noFill/>
          <a:ln/>
        </p:spPr>
        <p:txBody>
          <a:bodyPr wrap="square" lIns="0" tIns="0" rIns="0" bIns="0" rtlCol="0" anchor="ctr"/>
          <a:lstStyle/>
          <a:p>
            <a:pPr algn="ctr" indent="0" marL="0">
              <a:buNone/>
            </a:pPr>
            <a:r>
              <a:rPr lang="en-US" sz="1600" dirty="0">
                <a:solidFill>
                  <a:srgbClr val="C85A2E"/>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9601200" y="1965960"/>
            <a:ext cx="1965960" cy="1737360"/>
          </a:xfrm>
          <a:prstGeom prst="roundRect">
            <a:avLst>
              <a:gd name="adj" fmla="val 3158"/>
            </a:avLst>
          </a:prstGeom>
          <a:solidFill>
            <a:srgbClr val="F4F1EA"/>
          </a:solidFill>
          <a:ln w="12700">
            <a:solidFill>
              <a:srgbClr val="E3DDCE"/>
            </a:solidFill>
            <a:prstDash val="solid"/>
          </a:ln>
        </p:spPr>
      </p:sp>
      <p:sp>
        <p:nvSpPr>
          <p:cNvPr id="30" name="Shape 28"/>
          <p:cNvSpPr/>
          <p:nvPr/>
        </p:nvSpPr>
        <p:spPr>
          <a:xfrm>
            <a:off x="9738360" y="2103120"/>
            <a:ext cx="384048" cy="384048"/>
          </a:xfrm>
          <a:prstGeom prst="ellipse">
            <a:avLst/>
          </a:prstGeom>
          <a:solidFill>
            <a:srgbClr val="C85A2E"/>
          </a:solidFill>
          <a:ln/>
        </p:spPr>
      </p:sp>
      <p:sp>
        <p:nvSpPr>
          <p:cNvPr id="31" name="Text 29"/>
          <p:cNvSpPr/>
          <p:nvPr/>
        </p:nvSpPr>
        <p:spPr>
          <a:xfrm>
            <a:off x="9738360" y="21031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2" name="Text 30"/>
          <p:cNvSpPr/>
          <p:nvPr/>
        </p:nvSpPr>
        <p:spPr>
          <a:xfrm>
            <a:off x="10222992" y="2121408"/>
            <a:ext cx="1280160" cy="347472"/>
          </a:xfrm>
          <a:prstGeom prst="rect">
            <a:avLst/>
          </a:prstGeom>
          <a:noFill/>
          <a:ln/>
        </p:spPr>
        <p:txBody>
          <a:bodyPr wrap="square" lIns="0" tIns="0" rIns="0" bIns="0" rtlCol="0" anchor="ctr"/>
          <a:lstStyle/>
          <a:p>
            <a:pPr indent="0" marL="0">
              <a:buNone/>
            </a:pPr>
            <a:r>
              <a:rPr lang="en-US" sz="1300" b="1" dirty="0">
                <a:solidFill>
                  <a:srgbClr val="14100E"/>
                </a:solidFill>
                <a:latin typeface="Cambria" pitchFamily="34" charset="0"/>
                <a:ea typeface="Cambria" pitchFamily="34" charset="-122"/>
                <a:cs typeface="Cambria" pitchFamily="34" charset="-120"/>
              </a:rPr>
              <a:t>NARRATOR</a:t>
            </a:r>
            <a:endParaRPr lang="en-US" sz="1300" dirty="0"/>
          </a:p>
        </p:txBody>
      </p:sp>
      <p:sp>
        <p:nvSpPr>
          <p:cNvPr id="33" name="Text 31"/>
          <p:cNvSpPr/>
          <p:nvPr/>
        </p:nvSpPr>
        <p:spPr>
          <a:xfrm>
            <a:off x="9738360" y="2606040"/>
            <a:ext cx="1691640" cy="960120"/>
          </a:xfrm>
          <a:prstGeom prst="rect">
            <a:avLst/>
          </a:prstGeom>
          <a:noFill/>
          <a:ln/>
        </p:spPr>
        <p:txBody>
          <a:bodyPr wrap="square" lIns="0" tIns="0" rIns="0" bIns="0" rtlCol="0" anchor="ctr"/>
          <a:lstStyle/>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LLM writes grounded,</a:t>
            </a:r>
            <a:endParaRPr lang="en-US" sz="1050" dirty="0"/>
          </a:p>
          <a:p>
            <a:pPr indent="0" marL="0">
              <a:lnSpc>
                <a:spcPct val="115000"/>
              </a:lnSpc>
              <a:buNone/>
            </a:pPr>
            <a:r>
              <a:rPr lang="en-US" sz="1050" dirty="0">
                <a:solidFill>
                  <a:srgbClr val="5A5A52"/>
                </a:solidFill>
                <a:latin typeface="Calibri" pitchFamily="34" charset="0"/>
                <a:ea typeface="Calibri" pitchFamily="34" charset="-122"/>
                <a:cs typeface="Calibri" pitchFamily="34" charset="-120"/>
              </a:rPr>
              <a:t>time-aware itinerary</a:t>
            </a:r>
            <a:endParaRPr lang="en-US" sz="1050" dirty="0"/>
          </a:p>
        </p:txBody>
      </p:sp>
      <p:sp>
        <p:nvSpPr>
          <p:cNvPr id="34" name="Shape 32"/>
          <p:cNvSpPr/>
          <p:nvPr/>
        </p:nvSpPr>
        <p:spPr>
          <a:xfrm>
            <a:off x="640080" y="3977640"/>
            <a:ext cx="10881360" cy="566928"/>
          </a:xfrm>
          <a:prstGeom prst="roundRect">
            <a:avLst>
              <a:gd name="adj" fmla="val 9677"/>
            </a:avLst>
          </a:prstGeom>
          <a:solidFill>
            <a:srgbClr val="F4F1EA"/>
          </a:solidFill>
          <a:ln w="12700">
            <a:solidFill>
              <a:srgbClr val="E3DDCE"/>
            </a:solidFill>
            <a:prstDash val="solid"/>
          </a:ln>
        </p:spPr>
      </p:sp>
      <p:sp>
        <p:nvSpPr>
          <p:cNvPr id="35" name="Text 33"/>
          <p:cNvSpPr/>
          <p:nvPr/>
        </p:nvSpPr>
        <p:spPr>
          <a:xfrm>
            <a:off x="868680" y="3977640"/>
            <a:ext cx="1371600" cy="566928"/>
          </a:xfrm>
          <a:prstGeom prst="rect">
            <a:avLst/>
          </a:prstGeom>
          <a:noFill/>
          <a:ln/>
        </p:spPr>
        <p:txBody>
          <a:bodyPr wrap="square" lIns="0" tIns="0" rIns="0" bIns="0" rtlCol="0" anchor="ctr"/>
          <a:lstStyle/>
          <a:p>
            <a:pPr indent="0" marL="0">
              <a:buNone/>
            </a:pPr>
            <a:r>
              <a:rPr lang="en-US" sz="1100" b="1" spc="150" kern="0" dirty="0">
                <a:solidFill>
                  <a:srgbClr val="C85A2E"/>
                </a:solidFill>
                <a:latin typeface="Calibri" pitchFamily="34" charset="0"/>
                <a:ea typeface="Calibri" pitchFamily="34" charset="-122"/>
                <a:cs typeface="Calibri" pitchFamily="34" charset="-120"/>
              </a:rPr>
              <a:t>CLIENT</a:t>
            </a:r>
            <a:endParaRPr lang="en-US" sz="1100" dirty="0"/>
          </a:p>
        </p:txBody>
      </p:sp>
      <p:sp>
        <p:nvSpPr>
          <p:cNvPr id="36" name="Text 34"/>
          <p:cNvSpPr/>
          <p:nvPr/>
        </p:nvSpPr>
        <p:spPr>
          <a:xfrm>
            <a:off x="2377440" y="3977640"/>
            <a:ext cx="8961120" cy="566928"/>
          </a:xfrm>
          <a:prstGeom prst="rect">
            <a:avLst/>
          </a:prstGeom>
          <a:noFill/>
          <a:ln/>
        </p:spPr>
        <p:txBody>
          <a:bodyPr wrap="square" lIns="0" tIns="0" rIns="0" bIns="0" rtlCol="0" anchor="ctr"/>
          <a:lstStyle/>
          <a:p>
            <a:pPr indent="0" marL="0">
              <a:buNone/>
            </a:pPr>
            <a:r>
              <a:rPr lang="en-US" sz="1200" dirty="0">
                <a:solidFill>
                  <a:srgbClr val="14100E"/>
                </a:solidFill>
                <a:latin typeface="Calibri" pitchFamily="34" charset="0"/>
                <a:ea typeface="Calibri" pitchFamily="34" charset="-122"/>
                <a:cs typeface="Calibri" pitchFamily="34" charset="-120"/>
              </a:rPr>
              <a:t>React 19 + TypeScript · Vite · Tailwind · Leaflet map · Framer Motion / GSAP</a:t>
            </a:r>
            <a:endParaRPr lang="en-US" sz="1200" dirty="0"/>
          </a:p>
        </p:txBody>
      </p:sp>
      <p:sp>
        <p:nvSpPr>
          <p:cNvPr id="37" name="Shape 35"/>
          <p:cNvSpPr/>
          <p:nvPr/>
        </p:nvSpPr>
        <p:spPr>
          <a:xfrm>
            <a:off x="640080" y="4636008"/>
            <a:ext cx="10881360" cy="566928"/>
          </a:xfrm>
          <a:prstGeom prst="roundRect">
            <a:avLst>
              <a:gd name="adj" fmla="val 9677"/>
            </a:avLst>
          </a:prstGeom>
          <a:solidFill>
            <a:srgbClr val="FFFFFF"/>
          </a:solidFill>
          <a:ln w="12700">
            <a:solidFill>
              <a:srgbClr val="E3DDCE"/>
            </a:solidFill>
            <a:prstDash val="solid"/>
          </a:ln>
        </p:spPr>
      </p:sp>
      <p:sp>
        <p:nvSpPr>
          <p:cNvPr id="38" name="Text 36"/>
          <p:cNvSpPr/>
          <p:nvPr/>
        </p:nvSpPr>
        <p:spPr>
          <a:xfrm>
            <a:off x="868680" y="4636008"/>
            <a:ext cx="1371600" cy="566928"/>
          </a:xfrm>
          <a:prstGeom prst="rect">
            <a:avLst/>
          </a:prstGeom>
          <a:noFill/>
          <a:ln/>
        </p:spPr>
        <p:txBody>
          <a:bodyPr wrap="square" lIns="0" tIns="0" rIns="0" bIns="0" rtlCol="0" anchor="ctr"/>
          <a:lstStyle/>
          <a:p>
            <a:pPr indent="0" marL="0">
              <a:buNone/>
            </a:pPr>
            <a:r>
              <a:rPr lang="en-US" sz="1100" b="1" spc="150" kern="0" dirty="0">
                <a:solidFill>
                  <a:srgbClr val="C85A2E"/>
                </a:solidFill>
                <a:latin typeface="Calibri" pitchFamily="34" charset="0"/>
                <a:ea typeface="Calibri" pitchFamily="34" charset="-122"/>
                <a:cs typeface="Calibri" pitchFamily="34" charset="-120"/>
              </a:rPr>
              <a:t>API</a:t>
            </a:r>
            <a:endParaRPr lang="en-US" sz="1100" dirty="0"/>
          </a:p>
        </p:txBody>
      </p:sp>
      <p:sp>
        <p:nvSpPr>
          <p:cNvPr id="39" name="Text 37"/>
          <p:cNvSpPr/>
          <p:nvPr/>
        </p:nvSpPr>
        <p:spPr>
          <a:xfrm>
            <a:off x="2377440" y="4636008"/>
            <a:ext cx="8961120" cy="566928"/>
          </a:xfrm>
          <a:prstGeom prst="rect">
            <a:avLst/>
          </a:prstGeom>
          <a:noFill/>
          <a:ln/>
        </p:spPr>
        <p:txBody>
          <a:bodyPr wrap="square" lIns="0" tIns="0" rIns="0" bIns="0" rtlCol="0" anchor="ctr"/>
          <a:lstStyle/>
          <a:p>
            <a:pPr indent="0" marL="0">
              <a:buNone/>
            </a:pPr>
            <a:r>
              <a:rPr lang="en-US" sz="1200" dirty="0">
                <a:solidFill>
                  <a:srgbClr val="14100E"/>
                </a:solidFill>
                <a:latin typeface="Calibri" pitchFamily="34" charset="0"/>
                <a:ea typeface="Calibri" pitchFamily="34" charset="-122"/>
                <a:cs typeface="Calibri" pitchFamily="34" charset="-120"/>
              </a:rPr>
              <a:t>FastAPI · NDJSON streaming planner · REST endpoints · per-IP rate limiting</a:t>
            </a:r>
            <a:endParaRPr lang="en-US" sz="1200" dirty="0"/>
          </a:p>
        </p:txBody>
      </p:sp>
      <p:sp>
        <p:nvSpPr>
          <p:cNvPr id="40" name="Shape 38"/>
          <p:cNvSpPr/>
          <p:nvPr/>
        </p:nvSpPr>
        <p:spPr>
          <a:xfrm>
            <a:off x="640080" y="5294376"/>
            <a:ext cx="10881360" cy="566928"/>
          </a:xfrm>
          <a:prstGeom prst="roundRect">
            <a:avLst>
              <a:gd name="adj" fmla="val 9677"/>
            </a:avLst>
          </a:prstGeom>
          <a:solidFill>
            <a:srgbClr val="F4F1EA"/>
          </a:solidFill>
          <a:ln w="12700">
            <a:solidFill>
              <a:srgbClr val="E3DDCE"/>
            </a:solidFill>
            <a:prstDash val="solid"/>
          </a:ln>
        </p:spPr>
      </p:sp>
      <p:sp>
        <p:nvSpPr>
          <p:cNvPr id="41" name="Text 39"/>
          <p:cNvSpPr/>
          <p:nvPr/>
        </p:nvSpPr>
        <p:spPr>
          <a:xfrm>
            <a:off x="868680" y="5294376"/>
            <a:ext cx="1371600" cy="566928"/>
          </a:xfrm>
          <a:prstGeom prst="rect">
            <a:avLst/>
          </a:prstGeom>
          <a:noFill/>
          <a:ln/>
        </p:spPr>
        <p:txBody>
          <a:bodyPr wrap="square" lIns="0" tIns="0" rIns="0" bIns="0" rtlCol="0" anchor="ctr"/>
          <a:lstStyle/>
          <a:p>
            <a:pPr indent="0" marL="0">
              <a:buNone/>
            </a:pPr>
            <a:r>
              <a:rPr lang="en-US" sz="1100" b="1" spc="150" kern="0" dirty="0">
                <a:solidFill>
                  <a:srgbClr val="C85A2E"/>
                </a:solidFill>
                <a:latin typeface="Calibri" pitchFamily="34" charset="0"/>
                <a:ea typeface="Calibri" pitchFamily="34" charset="-122"/>
                <a:cs typeface="Calibri" pitchFamily="34" charset="-120"/>
              </a:rPr>
              <a:t>SERVICES</a:t>
            </a:r>
            <a:endParaRPr lang="en-US" sz="1100" dirty="0"/>
          </a:p>
        </p:txBody>
      </p:sp>
      <p:sp>
        <p:nvSpPr>
          <p:cNvPr id="42" name="Text 40"/>
          <p:cNvSpPr/>
          <p:nvPr/>
        </p:nvSpPr>
        <p:spPr>
          <a:xfrm>
            <a:off x="2377440" y="5294376"/>
            <a:ext cx="8961120" cy="566928"/>
          </a:xfrm>
          <a:prstGeom prst="rect">
            <a:avLst/>
          </a:prstGeom>
          <a:noFill/>
          <a:ln/>
        </p:spPr>
        <p:txBody>
          <a:bodyPr wrap="square" lIns="0" tIns="0" rIns="0" bIns="0" rtlCol="0" anchor="ctr"/>
          <a:lstStyle/>
          <a:p>
            <a:pPr indent="0" marL="0">
              <a:buNone/>
            </a:pPr>
            <a:r>
              <a:rPr lang="en-US" sz="1200" dirty="0">
                <a:solidFill>
                  <a:srgbClr val="14100E"/>
                </a:solidFill>
                <a:latin typeface="Calibri" pitchFamily="34" charset="0"/>
                <a:ea typeface="Calibri" pitchFamily="34" charset="-122"/>
                <a:cs typeface="Calibri" pitchFamily="34" charset="-120"/>
              </a:rPr>
              <a:t>OpenRouteService (routing) · Google Places / OpenTripMap (POIs) · OpenRouter (LLM)</a:t>
            </a:r>
            <a:endParaRPr lang="en-US" sz="1200" dirty="0"/>
          </a:p>
        </p:txBody>
      </p:sp>
      <p:sp>
        <p:nvSpPr>
          <p:cNvPr id="43" name="Shape 41"/>
          <p:cNvSpPr/>
          <p:nvPr/>
        </p:nvSpPr>
        <p:spPr>
          <a:xfrm>
            <a:off x="640080" y="5952744"/>
            <a:ext cx="10881360" cy="566928"/>
          </a:xfrm>
          <a:prstGeom prst="roundRect">
            <a:avLst>
              <a:gd name="adj" fmla="val 9677"/>
            </a:avLst>
          </a:prstGeom>
          <a:solidFill>
            <a:srgbClr val="FFFFFF"/>
          </a:solidFill>
          <a:ln w="12700">
            <a:solidFill>
              <a:srgbClr val="E3DDCE"/>
            </a:solidFill>
            <a:prstDash val="solid"/>
          </a:ln>
        </p:spPr>
      </p:sp>
      <p:sp>
        <p:nvSpPr>
          <p:cNvPr id="44" name="Text 42"/>
          <p:cNvSpPr/>
          <p:nvPr/>
        </p:nvSpPr>
        <p:spPr>
          <a:xfrm>
            <a:off x="868680" y="5952744"/>
            <a:ext cx="1371600" cy="566928"/>
          </a:xfrm>
          <a:prstGeom prst="rect">
            <a:avLst/>
          </a:prstGeom>
          <a:noFill/>
          <a:ln/>
        </p:spPr>
        <p:txBody>
          <a:bodyPr wrap="square" lIns="0" tIns="0" rIns="0" bIns="0" rtlCol="0" anchor="ctr"/>
          <a:lstStyle/>
          <a:p>
            <a:pPr indent="0" marL="0">
              <a:buNone/>
            </a:pPr>
            <a:r>
              <a:rPr lang="en-US" sz="1100" b="1" spc="150" kern="0" dirty="0">
                <a:solidFill>
                  <a:srgbClr val="C85A2E"/>
                </a:solidFill>
                <a:latin typeface="Calibri" pitchFamily="34" charset="0"/>
                <a:ea typeface="Calibri" pitchFamily="34" charset="-122"/>
                <a:cs typeface="Calibri" pitchFamily="34" charset="-120"/>
              </a:rPr>
              <a:t>CACHE</a:t>
            </a:r>
            <a:endParaRPr lang="en-US" sz="1100" dirty="0"/>
          </a:p>
        </p:txBody>
      </p:sp>
      <p:sp>
        <p:nvSpPr>
          <p:cNvPr id="45" name="Text 43"/>
          <p:cNvSpPr/>
          <p:nvPr/>
        </p:nvSpPr>
        <p:spPr>
          <a:xfrm>
            <a:off x="2377440" y="5952744"/>
            <a:ext cx="8961120" cy="566928"/>
          </a:xfrm>
          <a:prstGeom prst="rect">
            <a:avLst/>
          </a:prstGeom>
          <a:noFill/>
          <a:ln/>
        </p:spPr>
        <p:txBody>
          <a:bodyPr wrap="square" lIns="0" tIns="0" rIns="0" bIns="0" rtlCol="0" anchor="ctr"/>
          <a:lstStyle/>
          <a:p>
            <a:pPr indent="0" marL="0">
              <a:buNone/>
            </a:pPr>
            <a:r>
              <a:rPr lang="en-US" sz="1200" dirty="0">
                <a:solidFill>
                  <a:srgbClr val="14100E"/>
                </a:solidFill>
                <a:latin typeface="Calibri" pitchFamily="34" charset="0"/>
                <a:ea typeface="Calibri" pitchFamily="34" charset="-122"/>
                <a:cs typeface="Calibri" pitchFamily="34" charset="-120"/>
              </a:rPr>
              <a:t>Redis — geocodes, routes, POIs, narration and full trips (in-process fallback)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08</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Technology Stack</a:t>
            </a:r>
            <a:endParaRPr lang="en-US" sz="3400" dirty="0"/>
          </a:p>
        </p:txBody>
      </p:sp>
      <p:sp>
        <p:nvSpPr>
          <p:cNvPr id="4" name="Shape 2"/>
          <p:cNvSpPr/>
          <p:nvPr/>
        </p:nvSpPr>
        <p:spPr>
          <a:xfrm>
            <a:off x="640080" y="1737360"/>
            <a:ext cx="2560320" cy="3931920"/>
          </a:xfrm>
          <a:prstGeom prst="roundRect">
            <a:avLst>
              <a:gd name="adj" fmla="val 2143"/>
            </a:avLst>
          </a:prstGeom>
          <a:solidFill>
            <a:srgbClr val="F4F1EA"/>
          </a:solidFill>
          <a:ln w="12700">
            <a:solidFill>
              <a:srgbClr val="E3DDCE"/>
            </a:solidFill>
            <a:prstDash val="solid"/>
          </a:ln>
        </p:spPr>
      </p:sp>
      <p:sp>
        <p:nvSpPr>
          <p:cNvPr id="5" name="Shape 3"/>
          <p:cNvSpPr/>
          <p:nvPr/>
        </p:nvSpPr>
        <p:spPr>
          <a:xfrm>
            <a:off x="896112" y="1965960"/>
            <a:ext cx="502920" cy="82296"/>
          </a:xfrm>
          <a:prstGeom prst="rect">
            <a:avLst/>
          </a:prstGeom>
          <a:solidFill>
            <a:srgbClr val="C85A2E"/>
          </a:solidFill>
          <a:ln/>
        </p:spPr>
      </p:sp>
      <p:sp>
        <p:nvSpPr>
          <p:cNvPr id="6" name="Text 4"/>
          <p:cNvSpPr/>
          <p:nvPr/>
        </p:nvSpPr>
        <p:spPr>
          <a:xfrm>
            <a:off x="896112" y="2148840"/>
            <a:ext cx="210312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Frontend</a:t>
            </a:r>
            <a:endParaRPr lang="en-US" sz="1600" dirty="0"/>
          </a:p>
        </p:txBody>
      </p:sp>
      <p:sp>
        <p:nvSpPr>
          <p:cNvPr id="7" name="Text 5"/>
          <p:cNvSpPr/>
          <p:nvPr/>
        </p:nvSpPr>
        <p:spPr>
          <a:xfrm>
            <a:off x="896112" y="2606040"/>
            <a:ext cx="2103120" cy="283464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React 19 + TypeScript</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Vite build tool</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Tailwind CSS v4</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Leaflet (map canvas)</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Framer Motion + GSAP</a:t>
            </a:r>
            <a:endParaRPr lang="en-US" sz="1150" dirty="0"/>
          </a:p>
        </p:txBody>
      </p:sp>
      <p:sp>
        <p:nvSpPr>
          <p:cNvPr id="8" name="Shape 6"/>
          <p:cNvSpPr/>
          <p:nvPr/>
        </p:nvSpPr>
        <p:spPr>
          <a:xfrm>
            <a:off x="3429000" y="1737360"/>
            <a:ext cx="2560320" cy="3931920"/>
          </a:xfrm>
          <a:prstGeom prst="roundRect">
            <a:avLst>
              <a:gd name="adj" fmla="val 2143"/>
            </a:avLst>
          </a:prstGeom>
          <a:solidFill>
            <a:srgbClr val="FFFFFF"/>
          </a:solidFill>
          <a:ln w="12700">
            <a:solidFill>
              <a:srgbClr val="E3DDCE"/>
            </a:solidFill>
            <a:prstDash val="solid"/>
          </a:ln>
        </p:spPr>
      </p:sp>
      <p:sp>
        <p:nvSpPr>
          <p:cNvPr id="9" name="Shape 7"/>
          <p:cNvSpPr/>
          <p:nvPr/>
        </p:nvSpPr>
        <p:spPr>
          <a:xfrm>
            <a:off x="3685032" y="1965960"/>
            <a:ext cx="502920" cy="82296"/>
          </a:xfrm>
          <a:prstGeom prst="rect">
            <a:avLst/>
          </a:prstGeom>
          <a:solidFill>
            <a:srgbClr val="C85A2E"/>
          </a:solidFill>
          <a:ln/>
        </p:spPr>
      </p:sp>
      <p:sp>
        <p:nvSpPr>
          <p:cNvPr id="10" name="Text 8"/>
          <p:cNvSpPr/>
          <p:nvPr/>
        </p:nvSpPr>
        <p:spPr>
          <a:xfrm>
            <a:off x="3685032" y="2148840"/>
            <a:ext cx="210312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Backend</a:t>
            </a:r>
            <a:endParaRPr lang="en-US" sz="1600" dirty="0"/>
          </a:p>
        </p:txBody>
      </p:sp>
      <p:sp>
        <p:nvSpPr>
          <p:cNvPr id="11" name="Text 9"/>
          <p:cNvSpPr/>
          <p:nvPr/>
        </p:nvSpPr>
        <p:spPr>
          <a:xfrm>
            <a:off x="3685032" y="2606040"/>
            <a:ext cx="2103120" cy="283464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Python 3.13</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FastAPI (async)</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LangGraph orchestration</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Pydantic v2 schemas</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Uvicorn / Gunicorn</a:t>
            </a:r>
            <a:endParaRPr lang="en-US" sz="1150" dirty="0"/>
          </a:p>
        </p:txBody>
      </p:sp>
      <p:sp>
        <p:nvSpPr>
          <p:cNvPr id="12" name="Shape 10"/>
          <p:cNvSpPr/>
          <p:nvPr/>
        </p:nvSpPr>
        <p:spPr>
          <a:xfrm>
            <a:off x="6217920" y="1737360"/>
            <a:ext cx="2560320" cy="3931920"/>
          </a:xfrm>
          <a:prstGeom prst="roundRect">
            <a:avLst>
              <a:gd name="adj" fmla="val 2143"/>
            </a:avLst>
          </a:prstGeom>
          <a:solidFill>
            <a:srgbClr val="F4F1EA"/>
          </a:solidFill>
          <a:ln w="12700">
            <a:solidFill>
              <a:srgbClr val="E3DDCE"/>
            </a:solidFill>
            <a:prstDash val="solid"/>
          </a:ln>
        </p:spPr>
      </p:sp>
      <p:sp>
        <p:nvSpPr>
          <p:cNvPr id="13" name="Shape 11"/>
          <p:cNvSpPr/>
          <p:nvPr/>
        </p:nvSpPr>
        <p:spPr>
          <a:xfrm>
            <a:off x="6473952" y="1965960"/>
            <a:ext cx="502920" cy="82296"/>
          </a:xfrm>
          <a:prstGeom prst="rect">
            <a:avLst/>
          </a:prstGeom>
          <a:solidFill>
            <a:srgbClr val="C85A2E"/>
          </a:solidFill>
          <a:ln/>
        </p:spPr>
      </p:sp>
      <p:sp>
        <p:nvSpPr>
          <p:cNvPr id="14" name="Text 12"/>
          <p:cNvSpPr/>
          <p:nvPr/>
        </p:nvSpPr>
        <p:spPr>
          <a:xfrm>
            <a:off x="6473952" y="2148840"/>
            <a:ext cx="210312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Data &amp; AI</a:t>
            </a:r>
            <a:endParaRPr lang="en-US" sz="1600" dirty="0"/>
          </a:p>
        </p:txBody>
      </p:sp>
      <p:sp>
        <p:nvSpPr>
          <p:cNvPr id="15" name="Text 13"/>
          <p:cNvSpPr/>
          <p:nvPr/>
        </p:nvSpPr>
        <p:spPr>
          <a:xfrm>
            <a:off x="6473952" y="2606040"/>
            <a:ext cx="2103120" cy="283464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OpenRouteService — routing</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Google Places API (New)</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OpenTripMap (free tier)</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OpenRouter — BYO LLM</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Wikipedia — images</a:t>
            </a:r>
            <a:endParaRPr lang="en-US" sz="1150" dirty="0"/>
          </a:p>
        </p:txBody>
      </p:sp>
      <p:sp>
        <p:nvSpPr>
          <p:cNvPr id="16" name="Shape 14"/>
          <p:cNvSpPr/>
          <p:nvPr/>
        </p:nvSpPr>
        <p:spPr>
          <a:xfrm>
            <a:off x="9006840" y="1737360"/>
            <a:ext cx="2560320" cy="3931920"/>
          </a:xfrm>
          <a:prstGeom prst="roundRect">
            <a:avLst>
              <a:gd name="adj" fmla="val 2143"/>
            </a:avLst>
          </a:prstGeom>
          <a:solidFill>
            <a:srgbClr val="FFFFFF"/>
          </a:solidFill>
          <a:ln w="12700">
            <a:solidFill>
              <a:srgbClr val="E3DDCE"/>
            </a:solidFill>
            <a:prstDash val="solid"/>
          </a:ln>
        </p:spPr>
      </p:sp>
      <p:sp>
        <p:nvSpPr>
          <p:cNvPr id="17" name="Shape 15"/>
          <p:cNvSpPr/>
          <p:nvPr/>
        </p:nvSpPr>
        <p:spPr>
          <a:xfrm>
            <a:off x="9262872" y="1965960"/>
            <a:ext cx="502920" cy="82296"/>
          </a:xfrm>
          <a:prstGeom prst="rect">
            <a:avLst/>
          </a:prstGeom>
          <a:solidFill>
            <a:srgbClr val="C85A2E"/>
          </a:solidFill>
          <a:ln/>
        </p:spPr>
      </p:sp>
      <p:sp>
        <p:nvSpPr>
          <p:cNvPr id="18" name="Text 16"/>
          <p:cNvSpPr/>
          <p:nvPr/>
        </p:nvSpPr>
        <p:spPr>
          <a:xfrm>
            <a:off x="9262872" y="2148840"/>
            <a:ext cx="2103120" cy="365760"/>
          </a:xfrm>
          <a:prstGeom prst="rect">
            <a:avLst/>
          </a:prstGeom>
          <a:noFill/>
          <a:ln/>
        </p:spPr>
        <p:txBody>
          <a:bodyPr wrap="square" lIns="0" tIns="0" rIns="0" bIns="0" rtlCol="0" anchor="ctr"/>
          <a:lstStyle/>
          <a:p>
            <a:pPr indent="0" marL="0">
              <a:buNone/>
            </a:pPr>
            <a:r>
              <a:rPr lang="en-US" sz="1600" b="1" dirty="0">
                <a:solidFill>
                  <a:srgbClr val="14100E"/>
                </a:solidFill>
                <a:latin typeface="Cambria" pitchFamily="34" charset="0"/>
                <a:ea typeface="Cambria" pitchFamily="34" charset="-122"/>
                <a:cs typeface="Cambria" pitchFamily="34" charset="-120"/>
              </a:rPr>
              <a:t>Infrastructure</a:t>
            </a:r>
            <a:endParaRPr lang="en-US" sz="1600" dirty="0"/>
          </a:p>
        </p:txBody>
      </p:sp>
      <p:sp>
        <p:nvSpPr>
          <p:cNvPr id="19" name="Text 17"/>
          <p:cNvSpPr/>
          <p:nvPr/>
        </p:nvSpPr>
        <p:spPr>
          <a:xfrm>
            <a:off x="9262872" y="2606040"/>
            <a:ext cx="2103120" cy="283464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Redis caching layer</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SlowAPI rate limiting</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NDJSON event streaming</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Environment-based config</a:t>
            </a:r>
            <a:endParaRPr lang="en-US" sz="1150" dirty="0"/>
          </a:p>
          <a:p>
            <a:pPr marL="342900" indent="-342900">
              <a:spcAft>
                <a:spcPts val="900"/>
              </a:spcAft>
              <a:buSzPct val="100000"/>
              <a:buChar char="•"/>
            </a:pPr>
            <a:r>
              <a:rPr lang="en-US" sz="1150" dirty="0">
                <a:solidFill>
                  <a:srgbClr val="5A5A52"/>
                </a:solidFill>
                <a:latin typeface="Calibri" pitchFamily="34" charset="0"/>
                <a:ea typeface="Calibri" pitchFamily="34" charset="-122"/>
                <a:cs typeface="Calibri" pitchFamily="34" charset="-120"/>
              </a:rPr>
              <a:t>Multi-worker deployment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09</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Modules — the Five Agents</a:t>
            </a:r>
            <a:endParaRPr lang="en-US" sz="3400" dirty="0"/>
          </a:p>
        </p:txBody>
      </p:sp>
      <p:sp>
        <p:nvSpPr>
          <p:cNvPr id="4" name="Shape 2"/>
          <p:cNvSpPr/>
          <p:nvPr/>
        </p:nvSpPr>
        <p:spPr>
          <a:xfrm>
            <a:off x="640080" y="1664208"/>
            <a:ext cx="10881360" cy="822960"/>
          </a:xfrm>
          <a:prstGeom prst="roundRect">
            <a:avLst>
              <a:gd name="adj" fmla="val 6667"/>
            </a:avLst>
          </a:prstGeom>
          <a:solidFill>
            <a:srgbClr val="F4F1EA"/>
          </a:solidFill>
          <a:ln w="12700">
            <a:solidFill>
              <a:srgbClr val="E3DDCE"/>
            </a:solidFill>
            <a:prstDash val="solid"/>
          </a:ln>
        </p:spPr>
      </p:sp>
      <p:sp>
        <p:nvSpPr>
          <p:cNvPr id="5" name="Text 3"/>
          <p:cNvSpPr/>
          <p:nvPr/>
        </p:nvSpPr>
        <p:spPr>
          <a:xfrm>
            <a:off x="868680" y="1664208"/>
            <a:ext cx="1051560" cy="822960"/>
          </a:xfrm>
          <a:prstGeom prst="rect">
            <a:avLst/>
          </a:prstGeom>
          <a:noFill/>
          <a:ln/>
        </p:spPr>
        <p:txBody>
          <a:bodyPr wrap="square" lIns="0" tIns="0" rIns="0" bIns="0" rtlCol="0" anchor="ctr"/>
          <a:lstStyle/>
          <a:p>
            <a:pPr indent="0" marL="0">
              <a:buNone/>
            </a:pPr>
            <a:r>
              <a:rPr lang="en-US" sz="1700" b="1" dirty="0">
                <a:solidFill>
                  <a:srgbClr val="14663F"/>
                </a:solidFill>
                <a:latin typeface="Nirmala UI" pitchFamily="34" charset="0"/>
                <a:ea typeface="Nirmala UI" pitchFamily="34" charset="-122"/>
                <a:cs typeface="Nirmala UI" pitchFamily="34" charset="-120"/>
              </a:rPr>
              <a:t>मार्ग</a:t>
            </a:r>
            <a:endParaRPr lang="en-US" sz="1700" dirty="0"/>
          </a:p>
        </p:txBody>
      </p:sp>
      <p:sp>
        <p:nvSpPr>
          <p:cNvPr id="6" name="Text 4"/>
          <p:cNvSpPr/>
          <p:nvPr/>
        </p:nvSpPr>
        <p:spPr>
          <a:xfrm>
            <a:off x="2011680" y="1664208"/>
            <a:ext cx="2011680" cy="8229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Route Agent</a:t>
            </a:r>
            <a:endParaRPr lang="en-US" sz="1450" dirty="0"/>
          </a:p>
        </p:txBody>
      </p:sp>
      <p:sp>
        <p:nvSpPr>
          <p:cNvPr id="7" name="Text 5"/>
          <p:cNvSpPr/>
          <p:nvPr/>
        </p:nvSpPr>
        <p:spPr>
          <a:xfrm>
            <a:off x="4114800" y="1664208"/>
            <a:ext cx="7315200" cy="82296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Geocodes the start and destination, then fetches the drivable polyline and total duration from OpenRouteService.</a:t>
            </a:r>
            <a:endParaRPr lang="en-US" sz="1200" dirty="0"/>
          </a:p>
        </p:txBody>
      </p:sp>
      <p:sp>
        <p:nvSpPr>
          <p:cNvPr id="8" name="Shape 6"/>
          <p:cNvSpPr/>
          <p:nvPr/>
        </p:nvSpPr>
        <p:spPr>
          <a:xfrm>
            <a:off x="640080" y="2596896"/>
            <a:ext cx="10881360" cy="822960"/>
          </a:xfrm>
          <a:prstGeom prst="roundRect">
            <a:avLst>
              <a:gd name="adj" fmla="val 6667"/>
            </a:avLst>
          </a:prstGeom>
          <a:solidFill>
            <a:srgbClr val="FFFFFF"/>
          </a:solidFill>
          <a:ln w="12700">
            <a:solidFill>
              <a:srgbClr val="E3DDCE"/>
            </a:solidFill>
            <a:prstDash val="solid"/>
          </a:ln>
        </p:spPr>
      </p:sp>
      <p:sp>
        <p:nvSpPr>
          <p:cNvPr id="9" name="Text 7"/>
          <p:cNvSpPr/>
          <p:nvPr/>
        </p:nvSpPr>
        <p:spPr>
          <a:xfrm>
            <a:off x="868680" y="2596896"/>
            <a:ext cx="1051560" cy="822960"/>
          </a:xfrm>
          <a:prstGeom prst="rect">
            <a:avLst/>
          </a:prstGeom>
          <a:noFill/>
          <a:ln/>
        </p:spPr>
        <p:txBody>
          <a:bodyPr wrap="square" lIns="0" tIns="0" rIns="0" bIns="0" rtlCol="0" anchor="ctr"/>
          <a:lstStyle/>
          <a:p>
            <a:pPr indent="0" marL="0">
              <a:buNone/>
            </a:pPr>
            <a:r>
              <a:rPr lang="en-US" sz="1700" b="1" dirty="0">
                <a:solidFill>
                  <a:srgbClr val="14663F"/>
                </a:solidFill>
                <a:latin typeface="Nirmala UI" pitchFamily="34" charset="0"/>
                <a:ea typeface="Nirmala UI" pitchFamily="34" charset="-122"/>
                <a:cs typeface="Nirmala UI" pitchFamily="34" charset="-120"/>
              </a:rPr>
              <a:t>पड़ाव</a:t>
            </a:r>
            <a:endParaRPr lang="en-US" sz="1700" dirty="0"/>
          </a:p>
        </p:txBody>
      </p:sp>
      <p:sp>
        <p:nvSpPr>
          <p:cNvPr id="10" name="Text 8"/>
          <p:cNvSpPr/>
          <p:nvPr/>
        </p:nvSpPr>
        <p:spPr>
          <a:xfrm>
            <a:off x="2011680" y="2596896"/>
            <a:ext cx="2011680" cy="8229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Sampling Agent</a:t>
            </a:r>
            <a:endParaRPr lang="en-US" sz="1450" dirty="0"/>
          </a:p>
        </p:txBody>
      </p:sp>
      <p:sp>
        <p:nvSpPr>
          <p:cNvPr id="11" name="Text 9"/>
          <p:cNvSpPr/>
          <p:nvPr/>
        </p:nvSpPr>
        <p:spPr>
          <a:xfrm>
            <a:off x="4114800" y="2596896"/>
            <a:ext cx="7315200" cy="82296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Divides the polyline into waypoints roughly every 25 km and computes an estimated arrival time for each.</a:t>
            </a:r>
            <a:endParaRPr lang="en-US" sz="1200" dirty="0"/>
          </a:p>
        </p:txBody>
      </p:sp>
      <p:sp>
        <p:nvSpPr>
          <p:cNvPr id="12" name="Shape 10"/>
          <p:cNvSpPr/>
          <p:nvPr/>
        </p:nvSpPr>
        <p:spPr>
          <a:xfrm>
            <a:off x="640080" y="3529584"/>
            <a:ext cx="10881360" cy="822960"/>
          </a:xfrm>
          <a:prstGeom prst="roundRect">
            <a:avLst>
              <a:gd name="adj" fmla="val 6667"/>
            </a:avLst>
          </a:prstGeom>
          <a:solidFill>
            <a:srgbClr val="F4F1EA"/>
          </a:solidFill>
          <a:ln w="12700">
            <a:solidFill>
              <a:srgbClr val="E3DDCE"/>
            </a:solidFill>
            <a:prstDash val="solid"/>
          </a:ln>
        </p:spPr>
      </p:sp>
      <p:sp>
        <p:nvSpPr>
          <p:cNvPr id="13" name="Text 11"/>
          <p:cNvSpPr/>
          <p:nvPr/>
        </p:nvSpPr>
        <p:spPr>
          <a:xfrm>
            <a:off x="868680" y="3529584"/>
            <a:ext cx="1051560" cy="822960"/>
          </a:xfrm>
          <a:prstGeom prst="rect">
            <a:avLst/>
          </a:prstGeom>
          <a:noFill/>
          <a:ln/>
        </p:spPr>
        <p:txBody>
          <a:bodyPr wrap="square" lIns="0" tIns="0" rIns="0" bIns="0" rtlCol="0" anchor="ctr"/>
          <a:lstStyle/>
          <a:p>
            <a:pPr indent="0" marL="0">
              <a:buNone/>
            </a:pPr>
            <a:r>
              <a:rPr lang="en-US" sz="1700" b="1" dirty="0">
                <a:solidFill>
                  <a:srgbClr val="14663F"/>
                </a:solidFill>
                <a:latin typeface="Nirmala UI" pitchFamily="34" charset="0"/>
                <a:ea typeface="Nirmala UI" pitchFamily="34" charset="-122"/>
                <a:cs typeface="Nirmala UI" pitchFamily="34" charset="-120"/>
              </a:rPr>
              <a:t>दर्शन</a:t>
            </a:r>
            <a:endParaRPr lang="en-US" sz="1700" dirty="0"/>
          </a:p>
        </p:txBody>
      </p:sp>
      <p:sp>
        <p:nvSpPr>
          <p:cNvPr id="14" name="Text 12"/>
          <p:cNvSpPr/>
          <p:nvPr/>
        </p:nvSpPr>
        <p:spPr>
          <a:xfrm>
            <a:off x="2011680" y="3529584"/>
            <a:ext cx="2011680" cy="8229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Discovery Agent</a:t>
            </a:r>
            <a:endParaRPr lang="en-US" sz="1450" dirty="0"/>
          </a:p>
        </p:txBody>
      </p:sp>
      <p:sp>
        <p:nvSpPr>
          <p:cNvPr id="15" name="Text 13"/>
          <p:cNvSpPr/>
          <p:nvPr/>
        </p:nvSpPr>
        <p:spPr>
          <a:xfrm>
            <a:off x="4114800" y="3529584"/>
            <a:ext cx="7315200" cy="82296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Queries the POI provider around every waypoint concurrently, de-duplicates results and measures each place's distance off-route.</a:t>
            </a:r>
            <a:endParaRPr lang="en-US" sz="1200" dirty="0"/>
          </a:p>
        </p:txBody>
      </p:sp>
      <p:sp>
        <p:nvSpPr>
          <p:cNvPr id="16" name="Shape 14"/>
          <p:cNvSpPr/>
          <p:nvPr/>
        </p:nvSpPr>
        <p:spPr>
          <a:xfrm>
            <a:off x="640080" y="4462272"/>
            <a:ext cx="10881360" cy="822960"/>
          </a:xfrm>
          <a:prstGeom prst="roundRect">
            <a:avLst>
              <a:gd name="adj" fmla="val 6667"/>
            </a:avLst>
          </a:prstGeom>
          <a:solidFill>
            <a:srgbClr val="FFFFFF"/>
          </a:solidFill>
          <a:ln w="12700">
            <a:solidFill>
              <a:srgbClr val="E3DDCE"/>
            </a:solidFill>
            <a:prstDash val="solid"/>
          </a:ln>
        </p:spPr>
      </p:sp>
      <p:sp>
        <p:nvSpPr>
          <p:cNvPr id="17" name="Text 15"/>
          <p:cNvSpPr/>
          <p:nvPr/>
        </p:nvSpPr>
        <p:spPr>
          <a:xfrm>
            <a:off x="868680" y="4462272"/>
            <a:ext cx="1051560" cy="822960"/>
          </a:xfrm>
          <a:prstGeom prst="rect">
            <a:avLst/>
          </a:prstGeom>
          <a:noFill/>
          <a:ln/>
        </p:spPr>
        <p:txBody>
          <a:bodyPr wrap="square" lIns="0" tIns="0" rIns="0" bIns="0" rtlCol="0" anchor="ctr"/>
          <a:lstStyle/>
          <a:p>
            <a:pPr indent="0" marL="0">
              <a:buNone/>
            </a:pPr>
            <a:r>
              <a:rPr lang="en-US" sz="1700" b="1" dirty="0">
                <a:solidFill>
                  <a:srgbClr val="14663F"/>
                </a:solidFill>
                <a:latin typeface="Nirmala UI" pitchFamily="34" charset="0"/>
                <a:ea typeface="Nirmala UI" pitchFamily="34" charset="-122"/>
                <a:cs typeface="Nirmala UI" pitchFamily="34" charset="-120"/>
              </a:rPr>
              <a:t>चुनाव</a:t>
            </a:r>
            <a:endParaRPr lang="en-US" sz="1700" dirty="0"/>
          </a:p>
        </p:txBody>
      </p:sp>
      <p:sp>
        <p:nvSpPr>
          <p:cNvPr id="18" name="Text 16"/>
          <p:cNvSpPr/>
          <p:nvPr/>
        </p:nvSpPr>
        <p:spPr>
          <a:xfrm>
            <a:off x="2011680" y="4462272"/>
            <a:ext cx="2011680" cy="8229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Ranking Agent</a:t>
            </a:r>
            <a:endParaRPr lang="en-US" sz="1450" dirty="0"/>
          </a:p>
        </p:txBody>
      </p:sp>
      <p:sp>
        <p:nvSpPr>
          <p:cNvPr id="19" name="Text 17"/>
          <p:cNvSpPr/>
          <p:nvPr/>
        </p:nvSpPr>
        <p:spPr>
          <a:xfrm>
            <a:off x="4114800" y="4462272"/>
            <a:ext cx="7315200" cy="82296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Scores each candidate, discards anything beyond the detour budget and distributes the final picks along the whole corridor.</a:t>
            </a:r>
            <a:endParaRPr lang="en-US" sz="1200" dirty="0"/>
          </a:p>
        </p:txBody>
      </p:sp>
      <p:sp>
        <p:nvSpPr>
          <p:cNvPr id="20" name="Shape 18"/>
          <p:cNvSpPr/>
          <p:nvPr/>
        </p:nvSpPr>
        <p:spPr>
          <a:xfrm>
            <a:off x="640080" y="5394960"/>
            <a:ext cx="10881360" cy="822960"/>
          </a:xfrm>
          <a:prstGeom prst="roundRect">
            <a:avLst>
              <a:gd name="adj" fmla="val 6667"/>
            </a:avLst>
          </a:prstGeom>
          <a:solidFill>
            <a:srgbClr val="F4F1EA"/>
          </a:solidFill>
          <a:ln w="12700">
            <a:solidFill>
              <a:srgbClr val="E3DDCE"/>
            </a:solidFill>
            <a:prstDash val="solid"/>
          </a:ln>
        </p:spPr>
      </p:sp>
      <p:sp>
        <p:nvSpPr>
          <p:cNvPr id="21" name="Text 19"/>
          <p:cNvSpPr/>
          <p:nvPr/>
        </p:nvSpPr>
        <p:spPr>
          <a:xfrm>
            <a:off x="868680" y="5394960"/>
            <a:ext cx="1051560" cy="822960"/>
          </a:xfrm>
          <a:prstGeom prst="rect">
            <a:avLst/>
          </a:prstGeom>
          <a:noFill/>
          <a:ln/>
        </p:spPr>
        <p:txBody>
          <a:bodyPr wrap="square" lIns="0" tIns="0" rIns="0" bIns="0" rtlCol="0" anchor="ctr"/>
          <a:lstStyle/>
          <a:p>
            <a:pPr indent="0" marL="0">
              <a:buNone/>
            </a:pPr>
            <a:r>
              <a:rPr lang="en-US" sz="1700" b="1" dirty="0">
                <a:solidFill>
                  <a:srgbClr val="14663F"/>
                </a:solidFill>
                <a:latin typeface="Nirmala UI" pitchFamily="34" charset="0"/>
                <a:ea typeface="Nirmala UI" pitchFamily="34" charset="-122"/>
                <a:cs typeface="Nirmala UI" pitchFamily="34" charset="-120"/>
              </a:rPr>
              <a:t>कहानी</a:t>
            </a:r>
            <a:endParaRPr lang="en-US" sz="1700" dirty="0"/>
          </a:p>
        </p:txBody>
      </p:sp>
      <p:sp>
        <p:nvSpPr>
          <p:cNvPr id="22" name="Text 20"/>
          <p:cNvSpPr/>
          <p:nvPr/>
        </p:nvSpPr>
        <p:spPr>
          <a:xfrm>
            <a:off x="2011680" y="5394960"/>
            <a:ext cx="2011680" cy="8229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Narration Agent</a:t>
            </a:r>
            <a:endParaRPr lang="en-US" sz="1450" dirty="0"/>
          </a:p>
        </p:txBody>
      </p:sp>
      <p:sp>
        <p:nvSpPr>
          <p:cNvPr id="23" name="Text 21"/>
          <p:cNvSpPr/>
          <p:nvPr/>
        </p:nvSpPr>
        <p:spPr>
          <a:xfrm>
            <a:off x="4114800" y="5394960"/>
            <a:ext cx="7315200" cy="82296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Prompts the LLM to describe only the retrieved places, producing a warm itinerary with practical timing advice.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10 · ALGORITHM</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Implementation — Ranking Algorithm</a:t>
            </a:r>
            <a:endParaRPr lang="en-US" sz="3400" dirty="0"/>
          </a:p>
        </p:txBody>
      </p:sp>
      <p:sp>
        <p:nvSpPr>
          <p:cNvPr id="4" name="Shape 2"/>
          <p:cNvSpPr/>
          <p:nvPr/>
        </p:nvSpPr>
        <p:spPr>
          <a:xfrm>
            <a:off x="640080" y="1691640"/>
            <a:ext cx="6309360" cy="868680"/>
          </a:xfrm>
          <a:prstGeom prst="roundRect">
            <a:avLst>
              <a:gd name="adj" fmla="val 6316"/>
            </a:avLst>
          </a:prstGeom>
          <a:solidFill>
            <a:srgbClr val="14100E"/>
          </a:solidFill>
          <a:ln w="12700">
            <a:solidFill>
              <a:srgbClr val="E3DDCE"/>
            </a:solidFill>
            <a:prstDash val="solid"/>
          </a:ln>
        </p:spPr>
      </p:sp>
      <p:sp>
        <p:nvSpPr>
          <p:cNvPr id="5" name="Text 3"/>
          <p:cNvSpPr/>
          <p:nvPr/>
        </p:nvSpPr>
        <p:spPr>
          <a:xfrm>
            <a:off x="868680" y="1691640"/>
            <a:ext cx="5852160" cy="868680"/>
          </a:xfrm>
          <a:prstGeom prst="rect">
            <a:avLst/>
          </a:prstGeom>
          <a:noFill/>
          <a:ln/>
        </p:spPr>
        <p:txBody>
          <a:bodyPr wrap="square" lIns="0" tIns="0" rIns="0" bIns="0" rtlCol="0" anchor="ctr"/>
          <a:lstStyle/>
          <a:p>
            <a:pPr indent="0" marL="0">
              <a:buNone/>
            </a:pPr>
            <a:r>
              <a:rPr lang="en-US" sz="1250" b="1" dirty="0">
                <a:solidFill>
                  <a:srgbClr val="F2B01E"/>
                </a:solidFill>
                <a:latin typeface="Courier New" pitchFamily="34" charset="0"/>
                <a:ea typeface="Courier New" pitchFamily="34" charset="-122"/>
                <a:cs typeface="Courier New" pitchFamily="34" charset="-120"/>
              </a:rPr>
              <a:t>score  =  0.35·popularity  +  0.30·(1 / detour)  +  0.25·theme  +  0.10·time-fit</a:t>
            </a:r>
            <a:endParaRPr lang="en-US" sz="1250" dirty="0"/>
          </a:p>
        </p:txBody>
      </p:sp>
      <p:sp>
        <p:nvSpPr>
          <p:cNvPr id="6" name="Text 4"/>
          <p:cNvSpPr/>
          <p:nvPr/>
        </p:nvSpPr>
        <p:spPr>
          <a:xfrm>
            <a:off x="640080" y="2788920"/>
            <a:ext cx="630936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Detour cost is approximated as twice the straight-line distance off-route, travelled at 30 km/h.</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Any candidate exceeding the traveller's detour budget is discarded before scoring.</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Theme match rewards places belonging to the selected vibes — food, heritage, nature or spiritual.</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Time-fit rewards meals at meal hours and viewpoints during golden hour.</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The route is divided into segments and the best-scoring stop in each is chosen, preventing clustering near the origin.</a:t>
            </a:r>
            <a:endParaRPr lang="en-US" sz="1300" dirty="0"/>
          </a:p>
        </p:txBody>
      </p:sp>
      <p:graphicFrame>
        <p:nvGraphicFramePr>
          <p:cNvPr id="7" name="Chart 0" descr=""/>
          <p:cNvGraphicFramePr/>
          <p:nvPr/>
        </p:nvGraphicFramePr>
        <p:xfrm>
          <a:off x="7223760" y="1691640"/>
          <a:ext cx="4297680" cy="4023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10 · ENGINEERING</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Implementation Highlights</a:t>
            </a:r>
            <a:endParaRPr lang="en-US" sz="3400" dirty="0"/>
          </a:p>
        </p:txBody>
      </p:sp>
      <p:sp>
        <p:nvSpPr>
          <p:cNvPr id="4" name="Shape 2"/>
          <p:cNvSpPr/>
          <p:nvPr/>
        </p:nvSpPr>
        <p:spPr>
          <a:xfrm>
            <a:off x="640080" y="1828800"/>
            <a:ext cx="402336" cy="402336"/>
          </a:xfrm>
          <a:prstGeom prst="ellipse">
            <a:avLst/>
          </a:prstGeom>
          <a:solidFill>
            <a:srgbClr val="14663F"/>
          </a:solidFill>
          <a:ln/>
        </p:spPr>
      </p:sp>
      <p:sp>
        <p:nvSpPr>
          <p:cNvPr id="5" name="Text 3"/>
          <p:cNvSpPr/>
          <p:nvPr/>
        </p:nvSpPr>
        <p:spPr>
          <a:xfrm>
            <a:off x="640080" y="18288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234440" y="1691640"/>
            <a:ext cx="2743200" cy="3657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Real-time streaming</a:t>
            </a:r>
            <a:endParaRPr lang="en-US" sz="1450" dirty="0"/>
          </a:p>
        </p:txBody>
      </p:sp>
      <p:sp>
        <p:nvSpPr>
          <p:cNvPr id="7" name="Text 5"/>
          <p:cNvSpPr/>
          <p:nvPr/>
        </p:nvSpPr>
        <p:spPr>
          <a:xfrm>
            <a:off x="4069080" y="1691640"/>
            <a:ext cx="7406640" cy="777240"/>
          </a:xfrm>
          <a:prstGeom prst="rect">
            <a:avLst/>
          </a:prstGeom>
          <a:noFill/>
          <a:ln/>
        </p:spPr>
        <p:txBody>
          <a:bodyPr wrap="square" lIns="0" tIns="0" rIns="0" bIns="0" rtlCol="0" anchor="ctr"/>
          <a:lstStyle/>
          <a:p>
            <a:pPr indent="0" marL="0">
              <a:lnSpc>
                <a:spcPct val="118000"/>
              </a:lnSpc>
              <a:buNone/>
            </a:pPr>
            <a:r>
              <a:rPr lang="en-US" sz="1200" dirty="0">
                <a:solidFill>
                  <a:srgbClr val="5A5A52"/>
                </a:solidFill>
                <a:latin typeface="Calibri" pitchFamily="34" charset="0"/>
                <a:ea typeface="Calibri" pitchFamily="34" charset="-122"/>
                <a:cs typeface="Calibri" pitchFamily="34" charset="-120"/>
              </a:rPr>
              <a:t>The planner streams NDJSON events as each LangGraph node completes, so the interface shows genuine backend progress rather than a spinner.</a:t>
            </a:r>
            <a:endParaRPr lang="en-US" sz="1200" dirty="0"/>
          </a:p>
        </p:txBody>
      </p:sp>
      <p:sp>
        <p:nvSpPr>
          <p:cNvPr id="8" name="Shape 6"/>
          <p:cNvSpPr/>
          <p:nvPr/>
        </p:nvSpPr>
        <p:spPr>
          <a:xfrm>
            <a:off x="640080" y="2743200"/>
            <a:ext cx="402336" cy="402336"/>
          </a:xfrm>
          <a:prstGeom prst="ellipse">
            <a:avLst/>
          </a:prstGeom>
          <a:solidFill>
            <a:srgbClr val="14663F"/>
          </a:solidFill>
          <a:ln/>
        </p:spPr>
      </p:sp>
      <p:sp>
        <p:nvSpPr>
          <p:cNvPr id="9" name="Text 7"/>
          <p:cNvSpPr/>
          <p:nvPr/>
        </p:nvSpPr>
        <p:spPr>
          <a:xfrm>
            <a:off x="640080" y="27432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234440" y="2606040"/>
            <a:ext cx="2743200" cy="3657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Layered caching</a:t>
            </a:r>
            <a:endParaRPr lang="en-US" sz="1450" dirty="0"/>
          </a:p>
        </p:txBody>
      </p:sp>
      <p:sp>
        <p:nvSpPr>
          <p:cNvPr id="11" name="Text 9"/>
          <p:cNvSpPr/>
          <p:nvPr/>
        </p:nvSpPr>
        <p:spPr>
          <a:xfrm>
            <a:off x="4069080" y="2606040"/>
            <a:ext cx="7406640" cy="777240"/>
          </a:xfrm>
          <a:prstGeom prst="rect">
            <a:avLst/>
          </a:prstGeom>
          <a:noFill/>
          <a:ln/>
        </p:spPr>
        <p:txBody>
          <a:bodyPr wrap="square" lIns="0" tIns="0" rIns="0" bIns="0" rtlCol="0" anchor="ctr"/>
          <a:lstStyle/>
          <a:p>
            <a:pPr indent="0" marL="0">
              <a:lnSpc>
                <a:spcPct val="118000"/>
              </a:lnSpc>
              <a:buNone/>
            </a:pPr>
            <a:r>
              <a:rPr lang="en-US" sz="1200" dirty="0">
                <a:solidFill>
                  <a:srgbClr val="5A5A52"/>
                </a:solidFill>
                <a:latin typeface="Calibri" pitchFamily="34" charset="0"/>
                <a:ea typeface="Calibri" pitchFamily="34" charset="-122"/>
                <a:cs typeface="Calibri" pitchFamily="34" charset="-120"/>
              </a:rPr>
              <a:t>Geocodes, routes, POI queries, narration and whole trips are cached in Redis. A repeated route returns in about 60 ms instead of several seconds.</a:t>
            </a:r>
            <a:endParaRPr lang="en-US" sz="1200" dirty="0"/>
          </a:p>
        </p:txBody>
      </p:sp>
      <p:sp>
        <p:nvSpPr>
          <p:cNvPr id="12" name="Shape 10"/>
          <p:cNvSpPr/>
          <p:nvPr/>
        </p:nvSpPr>
        <p:spPr>
          <a:xfrm>
            <a:off x="640080" y="3657600"/>
            <a:ext cx="402336" cy="402336"/>
          </a:xfrm>
          <a:prstGeom prst="ellipse">
            <a:avLst/>
          </a:prstGeom>
          <a:solidFill>
            <a:srgbClr val="14663F"/>
          </a:solidFill>
          <a:ln/>
        </p:spPr>
      </p:sp>
      <p:sp>
        <p:nvSpPr>
          <p:cNvPr id="13" name="Text 11"/>
          <p:cNvSpPr/>
          <p:nvPr/>
        </p:nvSpPr>
        <p:spPr>
          <a:xfrm>
            <a:off x="640080" y="36576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1234440" y="3520440"/>
            <a:ext cx="2743200" cy="3657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Swappable POI provider</a:t>
            </a:r>
            <a:endParaRPr lang="en-US" sz="1450" dirty="0"/>
          </a:p>
        </p:txBody>
      </p:sp>
      <p:sp>
        <p:nvSpPr>
          <p:cNvPr id="15" name="Text 13"/>
          <p:cNvSpPr/>
          <p:nvPr/>
        </p:nvSpPr>
        <p:spPr>
          <a:xfrm>
            <a:off x="4069080" y="3520440"/>
            <a:ext cx="7406640" cy="777240"/>
          </a:xfrm>
          <a:prstGeom prst="rect">
            <a:avLst/>
          </a:prstGeom>
          <a:noFill/>
          <a:ln/>
        </p:spPr>
        <p:txBody>
          <a:bodyPr wrap="square" lIns="0" tIns="0" rIns="0" bIns="0" rtlCol="0" anchor="ctr"/>
          <a:lstStyle/>
          <a:p>
            <a:pPr indent="0" marL="0">
              <a:lnSpc>
                <a:spcPct val="118000"/>
              </a:lnSpc>
              <a:buNone/>
            </a:pPr>
            <a:r>
              <a:rPr lang="en-US" sz="1200" dirty="0">
                <a:solidFill>
                  <a:srgbClr val="5A5A52"/>
                </a:solidFill>
                <a:latin typeface="Calibri" pitchFamily="34" charset="0"/>
                <a:ea typeface="Calibri" pitchFamily="34" charset="-122"/>
                <a:cs typeface="Calibri" pitchFamily="34" charset="-120"/>
              </a:rPr>
              <a:t>A single environment flag switches between the free OpenTripMap tier and the richer paid Google Places API without any code change.</a:t>
            </a:r>
            <a:endParaRPr lang="en-US" sz="1200" dirty="0"/>
          </a:p>
        </p:txBody>
      </p:sp>
      <p:sp>
        <p:nvSpPr>
          <p:cNvPr id="16" name="Shape 14"/>
          <p:cNvSpPr/>
          <p:nvPr/>
        </p:nvSpPr>
        <p:spPr>
          <a:xfrm>
            <a:off x="640080" y="4572000"/>
            <a:ext cx="402336" cy="402336"/>
          </a:xfrm>
          <a:prstGeom prst="ellipse">
            <a:avLst/>
          </a:prstGeom>
          <a:solidFill>
            <a:srgbClr val="14663F"/>
          </a:solidFill>
          <a:ln/>
        </p:spPr>
      </p:sp>
      <p:sp>
        <p:nvSpPr>
          <p:cNvPr id="17" name="Text 15"/>
          <p:cNvSpPr/>
          <p:nvPr/>
        </p:nvSpPr>
        <p:spPr>
          <a:xfrm>
            <a:off x="640080" y="45720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1234440" y="4434840"/>
            <a:ext cx="2743200" cy="3657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Grounded generation</a:t>
            </a:r>
            <a:endParaRPr lang="en-US" sz="1450" dirty="0"/>
          </a:p>
        </p:txBody>
      </p:sp>
      <p:sp>
        <p:nvSpPr>
          <p:cNvPr id="19" name="Text 17"/>
          <p:cNvSpPr/>
          <p:nvPr/>
        </p:nvSpPr>
        <p:spPr>
          <a:xfrm>
            <a:off x="4069080" y="4434840"/>
            <a:ext cx="7406640" cy="777240"/>
          </a:xfrm>
          <a:prstGeom prst="rect">
            <a:avLst/>
          </a:prstGeom>
          <a:noFill/>
          <a:ln/>
        </p:spPr>
        <p:txBody>
          <a:bodyPr wrap="square" lIns="0" tIns="0" rIns="0" bIns="0" rtlCol="0" anchor="ctr"/>
          <a:lstStyle/>
          <a:p>
            <a:pPr indent="0" marL="0">
              <a:lnSpc>
                <a:spcPct val="118000"/>
              </a:lnSpc>
              <a:buNone/>
            </a:pPr>
            <a:r>
              <a:rPr lang="en-US" sz="1200" dirty="0">
                <a:solidFill>
                  <a:srgbClr val="5A5A52"/>
                </a:solidFill>
                <a:latin typeface="Calibri" pitchFamily="34" charset="0"/>
                <a:ea typeface="Calibri" pitchFamily="34" charset="-122"/>
                <a:cs typeface="Calibri" pitchFamily="34" charset="-120"/>
              </a:rPr>
              <a:t>The narration prompt forbids inventing places; the model may only describe candidates the discovery agent actually returned.</a:t>
            </a:r>
            <a:endParaRPr lang="en-US" sz="1200" dirty="0"/>
          </a:p>
        </p:txBody>
      </p:sp>
      <p:sp>
        <p:nvSpPr>
          <p:cNvPr id="20" name="Shape 18"/>
          <p:cNvSpPr/>
          <p:nvPr/>
        </p:nvSpPr>
        <p:spPr>
          <a:xfrm>
            <a:off x="640080" y="5486400"/>
            <a:ext cx="402336" cy="402336"/>
          </a:xfrm>
          <a:prstGeom prst="ellipse">
            <a:avLst/>
          </a:prstGeom>
          <a:solidFill>
            <a:srgbClr val="14663F"/>
          </a:solidFill>
          <a:ln/>
        </p:spPr>
      </p:sp>
      <p:sp>
        <p:nvSpPr>
          <p:cNvPr id="21" name="Text 19"/>
          <p:cNvSpPr/>
          <p:nvPr/>
        </p:nvSpPr>
        <p:spPr>
          <a:xfrm>
            <a:off x="640080" y="5486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p:nvPr/>
        </p:nvSpPr>
        <p:spPr>
          <a:xfrm>
            <a:off x="1234440" y="5349240"/>
            <a:ext cx="2743200" cy="365760"/>
          </a:xfrm>
          <a:prstGeom prst="rect">
            <a:avLst/>
          </a:prstGeom>
          <a:noFill/>
          <a:ln/>
        </p:spPr>
        <p:txBody>
          <a:bodyPr wrap="square" lIns="0" tIns="0" rIns="0" bIns="0" rtlCol="0" anchor="ctr"/>
          <a:lstStyle/>
          <a:p>
            <a:pPr indent="0" marL="0">
              <a:buNone/>
            </a:pPr>
            <a:r>
              <a:rPr lang="en-US" sz="1450" b="1" dirty="0">
                <a:solidFill>
                  <a:srgbClr val="14100E"/>
                </a:solidFill>
                <a:latin typeface="Cambria" pitchFamily="34" charset="0"/>
                <a:ea typeface="Cambria" pitchFamily="34" charset="-122"/>
                <a:cs typeface="Cambria" pitchFamily="34" charset="-120"/>
              </a:rPr>
              <a:t>Safety and cost control</a:t>
            </a:r>
            <a:endParaRPr lang="en-US" sz="1450" dirty="0"/>
          </a:p>
        </p:txBody>
      </p:sp>
      <p:sp>
        <p:nvSpPr>
          <p:cNvPr id="23" name="Text 21"/>
          <p:cNvSpPr/>
          <p:nvPr/>
        </p:nvSpPr>
        <p:spPr>
          <a:xfrm>
            <a:off x="4069080" y="5349240"/>
            <a:ext cx="7406640" cy="777240"/>
          </a:xfrm>
          <a:prstGeom prst="rect">
            <a:avLst/>
          </a:prstGeom>
          <a:noFill/>
          <a:ln/>
        </p:spPr>
        <p:txBody>
          <a:bodyPr wrap="square" lIns="0" tIns="0" rIns="0" bIns="0" rtlCol="0" anchor="ctr"/>
          <a:lstStyle/>
          <a:p>
            <a:pPr indent="0" marL="0">
              <a:lnSpc>
                <a:spcPct val="118000"/>
              </a:lnSpc>
              <a:buNone/>
            </a:pPr>
            <a:r>
              <a:rPr lang="en-US" sz="1200" dirty="0">
                <a:solidFill>
                  <a:srgbClr val="5A5A52"/>
                </a:solidFill>
                <a:latin typeface="Calibri" pitchFamily="34" charset="0"/>
                <a:ea typeface="Calibri" pitchFamily="34" charset="-122"/>
                <a:cs typeface="Calibri" pitchFamily="34" charset="-120"/>
              </a:rPr>
              <a:t>Per-IP rate limiting, a daily API spend cap, bounded connection pools and typed error handling protect both the service and the budget.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11 · RESULTS</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Results</a:t>
            </a:r>
            <a:endParaRPr lang="en-US" sz="3400" dirty="0"/>
          </a:p>
        </p:txBody>
      </p:sp>
      <p:sp>
        <p:nvSpPr>
          <p:cNvPr id="4" name="Text 2"/>
          <p:cNvSpPr/>
          <p:nvPr/>
        </p:nvSpPr>
        <p:spPr>
          <a:xfrm>
            <a:off x="640080" y="1481328"/>
            <a:ext cx="10881360" cy="274320"/>
          </a:xfrm>
          <a:prstGeom prst="rect">
            <a:avLst/>
          </a:prstGeom>
          <a:noFill/>
          <a:ln/>
        </p:spPr>
        <p:txBody>
          <a:bodyPr wrap="square" lIns="0" tIns="0" rIns="0" bIns="0" rtlCol="0" anchor="ctr"/>
          <a:lstStyle/>
          <a:p>
            <a:pPr indent="0" marL="0">
              <a:buNone/>
            </a:pPr>
            <a:r>
              <a:rPr lang="en-US" sz="1200" i="1" dirty="0">
                <a:solidFill>
                  <a:srgbClr val="5A5A52"/>
                </a:solidFill>
                <a:latin typeface="Calibri" pitchFamily="34" charset="0"/>
                <a:ea typeface="Calibri" pitchFamily="34" charset="-122"/>
                <a:cs typeface="Calibri" pitchFamily="34" charset="-120"/>
              </a:rPr>
              <a:t>Observed output for a live Delhi → Jaipur request (Google Places provider)</a:t>
            </a:r>
            <a:endParaRPr lang="en-US" sz="1200" dirty="0"/>
          </a:p>
        </p:txBody>
      </p:sp>
      <p:sp>
        <p:nvSpPr>
          <p:cNvPr id="5" name="Shape 3"/>
          <p:cNvSpPr/>
          <p:nvPr/>
        </p:nvSpPr>
        <p:spPr>
          <a:xfrm>
            <a:off x="640080" y="1874520"/>
            <a:ext cx="2560320" cy="1371600"/>
          </a:xfrm>
          <a:prstGeom prst="roundRect">
            <a:avLst>
              <a:gd name="adj" fmla="val 4000"/>
            </a:avLst>
          </a:prstGeom>
          <a:solidFill>
            <a:srgbClr val="F4F1EA"/>
          </a:solidFill>
          <a:ln w="12700">
            <a:solidFill>
              <a:srgbClr val="E3DDCE"/>
            </a:solidFill>
            <a:prstDash val="solid"/>
          </a:ln>
        </p:spPr>
      </p:sp>
      <p:sp>
        <p:nvSpPr>
          <p:cNvPr id="6" name="Text 4"/>
          <p:cNvSpPr/>
          <p:nvPr/>
        </p:nvSpPr>
        <p:spPr>
          <a:xfrm>
            <a:off x="640080" y="2011680"/>
            <a:ext cx="2560320" cy="685800"/>
          </a:xfrm>
          <a:prstGeom prst="rect">
            <a:avLst/>
          </a:prstGeom>
          <a:noFill/>
          <a:ln/>
        </p:spPr>
        <p:txBody>
          <a:bodyPr wrap="square" lIns="0" tIns="0" rIns="0" bIns="0" rtlCol="0" anchor="ctr"/>
          <a:lstStyle/>
          <a:p>
            <a:pPr algn="ctr" indent="0" marL="0">
              <a:buNone/>
            </a:pPr>
            <a:r>
              <a:rPr lang="en-US" sz="3400" b="1" dirty="0">
                <a:solidFill>
                  <a:srgbClr val="C85A2E"/>
                </a:solidFill>
                <a:latin typeface="Cambria" pitchFamily="34" charset="0"/>
                <a:ea typeface="Cambria" pitchFamily="34" charset="-122"/>
                <a:cs typeface="Cambria" pitchFamily="34" charset="-120"/>
              </a:rPr>
              <a:t>311</a:t>
            </a:r>
            <a:endParaRPr lang="en-US" sz="3400" dirty="0"/>
          </a:p>
        </p:txBody>
      </p:sp>
      <p:sp>
        <p:nvSpPr>
          <p:cNvPr id="7" name="Text 5"/>
          <p:cNvSpPr/>
          <p:nvPr/>
        </p:nvSpPr>
        <p:spPr>
          <a:xfrm>
            <a:off x="640080" y="2697480"/>
            <a:ext cx="2560320" cy="365760"/>
          </a:xfrm>
          <a:prstGeom prst="rect">
            <a:avLst/>
          </a:prstGeom>
          <a:noFill/>
          <a:ln/>
        </p:spPr>
        <p:txBody>
          <a:bodyPr wrap="square" lIns="0" tIns="0" rIns="0" bIns="0" rtlCol="0" anchor="ctr"/>
          <a:lstStyle/>
          <a:p>
            <a:pPr algn="ctr" indent="0" marL="0">
              <a:buNone/>
            </a:pPr>
            <a:r>
              <a:rPr lang="en-US" sz="1200" dirty="0">
                <a:solidFill>
                  <a:srgbClr val="5A5A52"/>
                </a:solidFill>
                <a:latin typeface="Calibri" pitchFamily="34" charset="0"/>
                <a:ea typeface="Calibri" pitchFamily="34" charset="-122"/>
                <a:cs typeface="Calibri" pitchFamily="34" charset="-120"/>
              </a:rPr>
              <a:t>km routed</a:t>
            </a:r>
            <a:endParaRPr lang="en-US" sz="1200" dirty="0"/>
          </a:p>
        </p:txBody>
      </p:sp>
      <p:sp>
        <p:nvSpPr>
          <p:cNvPr id="8" name="Shape 6"/>
          <p:cNvSpPr/>
          <p:nvPr/>
        </p:nvSpPr>
        <p:spPr>
          <a:xfrm>
            <a:off x="3429000" y="1874520"/>
            <a:ext cx="2560320" cy="1371600"/>
          </a:xfrm>
          <a:prstGeom prst="roundRect">
            <a:avLst>
              <a:gd name="adj" fmla="val 4000"/>
            </a:avLst>
          </a:prstGeom>
          <a:solidFill>
            <a:srgbClr val="F4F1EA"/>
          </a:solidFill>
          <a:ln w="12700">
            <a:solidFill>
              <a:srgbClr val="E3DDCE"/>
            </a:solidFill>
            <a:prstDash val="solid"/>
          </a:ln>
        </p:spPr>
      </p:sp>
      <p:sp>
        <p:nvSpPr>
          <p:cNvPr id="9" name="Text 7"/>
          <p:cNvSpPr/>
          <p:nvPr/>
        </p:nvSpPr>
        <p:spPr>
          <a:xfrm>
            <a:off x="3429000" y="2011680"/>
            <a:ext cx="2560320" cy="685800"/>
          </a:xfrm>
          <a:prstGeom prst="rect">
            <a:avLst/>
          </a:prstGeom>
          <a:noFill/>
          <a:ln/>
        </p:spPr>
        <p:txBody>
          <a:bodyPr wrap="square" lIns="0" tIns="0" rIns="0" bIns="0" rtlCol="0" anchor="ctr"/>
          <a:lstStyle/>
          <a:p>
            <a:pPr algn="ctr" indent="0" marL="0">
              <a:buNone/>
            </a:pPr>
            <a:r>
              <a:rPr lang="en-US" sz="3400" b="1" dirty="0">
                <a:solidFill>
                  <a:srgbClr val="C85A2E"/>
                </a:solidFill>
                <a:latin typeface="Cambria" pitchFamily="34" charset="0"/>
                <a:ea typeface="Cambria" pitchFamily="34" charset="-122"/>
                <a:cs typeface="Cambria" pitchFamily="34" charset="-120"/>
              </a:rPr>
              <a:t>14</a:t>
            </a:r>
            <a:endParaRPr lang="en-US" sz="3400" dirty="0"/>
          </a:p>
        </p:txBody>
      </p:sp>
      <p:sp>
        <p:nvSpPr>
          <p:cNvPr id="10" name="Text 8"/>
          <p:cNvSpPr/>
          <p:nvPr/>
        </p:nvSpPr>
        <p:spPr>
          <a:xfrm>
            <a:off x="3429000" y="2697480"/>
            <a:ext cx="2560320" cy="365760"/>
          </a:xfrm>
          <a:prstGeom prst="rect">
            <a:avLst/>
          </a:prstGeom>
          <a:noFill/>
          <a:ln/>
        </p:spPr>
        <p:txBody>
          <a:bodyPr wrap="square" lIns="0" tIns="0" rIns="0" bIns="0" rtlCol="0" anchor="ctr"/>
          <a:lstStyle/>
          <a:p>
            <a:pPr algn="ctr" indent="0" marL="0">
              <a:buNone/>
            </a:pPr>
            <a:r>
              <a:rPr lang="en-US" sz="1200" dirty="0">
                <a:solidFill>
                  <a:srgbClr val="5A5A52"/>
                </a:solidFill>
                <a:latin typeface="Calibri" pitchFamily="34" charset="0"/>
                <a:ea typeface="Calibri" pitchFamily="34" charset="-122"/>
                <a:cs typeface="Calibri" pitchFamily="34" charset="-120"/>
              </a:rPr>
              <a:t>waypoints</a:t>
            </a:r>
            <a:endParaRPr lang="en-US" sz="1200" dirty="0"/>
          </a:p>
        </p:txBody>
      </p:sp>
      <p:sp>
        <p:nvSpPr>
          <p:cNvPr id="11" name="Shape 9"/>
          <p:cNvSpPr/>
          <p:nvPr/>
        </p:nvSpPr>
        <p:spPr>
          <a:xfrm>
            <a:off x="6217920" y="1874520"/>
            <a:ext cx="2560320" cy="1371600"/>
          </a:xfrm>
          <a:prstGeom prst="roundRect">
            <a:avLst>
              <a:gd name="adj" fmla="val 4000"/>
            </a:avLst>
          </a:prstGeom>
          <a:solidFill>
            <a:srgbClr val="F4F1EA"/>
          </a:solidFill>
          <a:ln w="12700">
            <a:solidFill>
              <a:srgbClr val="E3DDCE"/>
            </a:solidFill>
            <a:prstDash val="solid"/>
          </a:ln>
        </p:spPr>
      </p:sp>
      <p:sp>
        <p:nvSpPr>
          <p:cNvPr id="12" name="Text 10"/>
          <p:cNvSpPr/>
          <p:nvPr/>
        </p:nvSpPr>
        <p:spPr>
          <a:xfrm>
            <a:off x="6217920" y="2011680"/>
            <a:ext cx="2560320" cy="685800"/>
          </a:xfrm>
          <a:prstGeom prst="rect">
            <a:avLst/>
          </a:prstGeom>
          <a:noFill/>
          <a:ln/>
        </p:spPr>
        <p:txBody>
          <a:bodyPr wrap="square" lIns="0" tIns="0" rIns="0" bIns="0" rtlCol="0" anchor="ctr"/>
          <a:lstStyle/>
          <a:p>
            <a:pPr algn="ctr" indent="0" marL="0">
              <a:buNone/>
            </a:pPr>
            <a:r>
              <a:rPr lang="en-US" sz="3400" b="1" dirty="0">
                <a:solidFill>
                  <a:srgbClr val="C85A2E"/>
                </a:solidFill>
                <a:latin typeface="Cambria" pitchFamily="34" charset="0"/>
                <a:ea typeface="Cambria" pitchFamily="34" charset="-122"/>
                <a:cs typeface="Cambria" pitchFamily="34" charset="-120"/>
              </a:rPr>
              <a:t>134</a:t>
            </a:r>
            <a:endParaRPr lang="en-US" sz="3400" dirty="0"/>
          </a:p>
        </p:txBody>
      </p:sp>
      <p:sp>
        <p:nvSpPr>
          <p:cNvPr id="13" name="Text 11"/>
          <p:cNvSpPr/>
          <p:nvPr/>
        </p:nvSpPr>
        <p:spPr>
          <a:xfrm>
            <a:off x="6217920" y="2697480"/>
            <a:ext cx="2560320" cy="365760"/>
          </a:xfrm>
          <a:prstGeom prst="rect">
            <a:avLst/>
          </a:prstGeom>
          <a:noFill/>
          <a:ln/>
        </p:spPr>
        <p:txBody>
          <a:bodyPr wrap="square" lIns="0" tIns="0" rIns="0" bIns="0" rtlCol="0" anchor="ctr"/>
          <a:lstStyle/>
          <a:p>
            <a:pPr algn="ctr" indent="0" marL="0">
              <a:buNone/>
            </a:pPr>
            <a:r>
              <a:rPr lang="en-US" sz="1200" dirty="0">
                <a:solidFill>
                  <a:srgbClr val="5A5A52"/>
                </a:solidFill>
                <a:latin typeface="Calibri" pitchFamily="34" charset="0"/>
                <a:ea typeface="Calibri" pitchFamily="34" charset="-122"/>
                <a:cs typeface="Calibri" pitchFamily="34" charset="-120"/>
              </a:rPr>
              <a:t>places found</a:t>
            </a:r>
            <a:endParaRPr lang="en-US" sz="1200" dirty="0"/>
          </a:p>
        </p:txBody>
      </p:sp>
      <p:sp>
        <p:nvSpPr>
          <p:cNvPr id="14" name="Shape 12"/>
          <p:cNvSpPr/>
          <p:nvPr/>
        </p:nvSpPr>
        <p:spPr>
          <a:xfrm>
            <a:off x="9006840" y="1874520"/>
            <a:ext cx="2560320" cy="1371600"/>
          </a:xfrm>
          <a:prstGeom prst="roundRect">
            <a:avLst>
              <a:gd name="adj" fmla="val 4000"/>
            </a:avLst>
          </a:prstGeom>
          <a:solidFill>
            <a:srgbClr val="F4F1EA"/>
          </a:solidFill>
          <a:ln w="12700">
            <a:solidFill>
              <a:srgbClr val="E3DDCE"/>
            </a:solidFill>
            <a:prstDash val="solid"/>
          </a:ln>
        </p:spPr>
      </p:sp>
      <p:sp>
        <p:nvSpPr>
          <p:cNvPr id="15" name="Text 13"/>
          <p:cNvSpPr/>
          <p:nvPr/>
        </p:nvSpPr>
        <p:spPr>
          <a:xfrm>
            <a:off x="9006840" y="2011680"/>
            <a:ext cx="2560320" cy="685800"/>
          </a:xfrm>
          <a:prstGeom prst="rect">
            <a:avLst/>
          </a:prstGeom>
          <a:noFill/>
          <a:ln/>
        </p:spPr>
        <p:txBody>
          <a:bodyPr wrap="square" lIns="0" tIns="0" rIns="0" bIns="0" rtlCol="0" anchor="ctr"/>
          <a:lstStyle/>
          <a:p>
            <a:pPr algn="ctr" indent="0" marL="0">
              <a:buNone/>
            </a:pPr>
            <a:r>
              <a:rPr lang="en-US" sz="3400" b="1" dirty="0">
                <a:solidFill>
                  <a:srgbClr val="C85A2E"/>
                </a:solidFill>
                <a:latin typeface="Cambria" pitchFamily="34" charset="0"/>
                <a:ea typeface="Cambria" pitchFamily="34" charset="-122"/>
                <a:cs typeface="Cambria" pitchFamily="34" charset="-120"/>
              </a:rPr>
              <a:t>12</a:t>
            </a:r>
            <a:endParaRPr lang="en-US" sz="3400" dirty="0"/>
          </a:p>
        </p:txBody>
      </p:sp>
      <p:sp>
        <p:nvSpPr>
          <p:cNvPr id="16" name="Text 14"/>
          <p:cNvSpPr/>
          <p:nvPr/>
        </p:nvSpPr>
        <p:spPr>
          <a:xfrm>
            <a:off x="9006840" y="2697480"/>
            <a:ext cx="2560320" cy="365760"/>
          </a:xfrm>
          <a:prstGeom prst="rect">
            <a:avLst/>
          </a:prstGeom>
          <a:noFill/>
          <a:ln/>
        </p:spPr>
        <p:txBody>
          <a:bodyPr wrap="square" lIns="0" tIns="0" rIns="0" bIns="0" rtlCol="0" anchor="ctr"/>
          <a:lstStyle/>
          <a:p>
            <a:pPr algn="ctr" indent="0" marL="0">
              <a:buNone/>
            </a:pPr>
            <a:r>
              <a:rPr lang="en-US" sz="1200" dirty="0">
                <a:solidFill>
                  <a:srgbClr val="5A5A52"/>
                </a:solidFill>
                <a:latin typeface="Calibri" pitchFamily="34" charset="0"/>
                <a:ea typeface="Calibri" pitchFamily="34" charset="-122"/>
                <a:cs typeface="Calibri" pitchFamily="34" charset="-120"/>
              </a:rPr>
              <a:t>stops ranked</a:t>
            </a:r>
            <a:endParaRPr lang="en-US" sz="1200" dirty="0"/>
          </a:p>
        </p:txBody>
      </p:sp>
      <p:sp>
        <p:nvSpPr>
          <p:cNvPr id="17" name="Text 15"/>
          <p:cNvSpPr/>
          <p:nvPr/>
        </p:nvSpPr>
        <p:spPr>
          <a:xfrm>
            <a:off x="640080" y="3474720"/>
            <a:ext cx="5486400" cy="320040"/>
          </a:xfrm>
          <a:prstGeom prst="rect">
            <a:avLst/>
          </a:prstGeom>
          <a:noFill/>
          <a:ln/>
        </p:spPr>
        <p:txBody>
          <a:bodyPr wrap="square" lIns="0" tIns="0" rIns="0" bIns="0" rtlCol="0" anchor="ctr"/>
          <a:lstStyle/>
          <a:p>
            <a:pPr indent="0" marL="0">
              <a:buNone/>
            </a:pPr>
            <a:r>
              <a:rPr lang="en-US" sz="1500" b="1" dirty="0">
                <a:solidFill>
                  <a:srgbClr val="14100E"/>
                </a:solidFill>
                <a:latin typeface="Cambria" pitchFamily="34" charset="0"/>
                <a:ea typeface="Cambria" pitchFamily="34" charset="-122"/>
                <a:cs typeface="Cambria" pitchFamily="34" charset="-120"/>
              </a:rPr>
              <a:t>Agent trace observed from the running backend</a:t>
            </a:r>
            <a:endParaRPr lang="en-US" sz="1500" dirty="0"/>
          </a:p>
        </p:txBody>
      </p:sp>
      <p:sp>
        <p:nvSpPr>
          <p:cNvPr id="18" name="Text 16"/>
          <p:cNvSpPr/>
          <p:nvPr/>
        </p:nvSpPr>
        <p:spPr>
          <a:xfrm>
            <a:off x="731520" y="3886200"/>
            <a:ext cx="822960" cy="411480"/>
          </a:xfrm>
          <a:prstGeom prst="rect">
            <a:avLst/>
          </a:prstGeom>
          <a:noFill/>
          <a:ln/>
        </p:spPr>
        <p:txBody>
          <a:bodyPr wrap="square" lIns="0" tIns="0" rIns="0" bIns="0" rtlCol="0" anchor="ctr"/>
          <a:lstStyle/>
          <a:p>
            <a:pPr indent="0" marL="0">
              <a:buNone/>
            </a:pPr>
            <a:r>
              <a:rPr lang="en-US" sz="1300" b="1" dirty="0">
                <a:solidFill>
                  <a:srgbClr val="14663F"/>
                </a:solidFill>
                <a:latin typeface="Nirmala UI" pitchFamily="34" charset="0"/>
                <a:ea typeface="Nirmala UI" pitchFamily="34" charset="-122"/>
                <a:cs typeface="Nirmala UI" pitchFamily="34" charset="-120"/>
              </a:rPr>
              <a:t>मार्ग</a:t>
            </a:r>
            <a:endParaRPr lang="en-US" sz="1300" dirty="0"/>
          </a:p>
        </p:txBody>
      </p:sp>
      <p:sp>
        <p:nvSpPr>
          <p:cNvPr id="19" name="Text 17"/>
          <p:cNvSpPr/>
          <p:nvPr/>
        </p:nvSpPr>
        <p:spPr>
          <a:xfrm>
            <a:off x="1600200" y="3886200"/>
            <a:ext cx="1463040" cy="411480"/>
          </a:xfrm>
          <a:prstGeom prst="rect">
            <a:avLst/>
          </a:prstGeom>
          <a:noFill/>
          <a:ln/>
        </p:spPr>
        <p:txBody>
          <a:bodyPr wrap="square" lIns="0" tIns="0" rIns="0" bIns="0" rtlCol="0" anchor="ctr"/>
          <a:lstStyle/>
          <a:p>
            <a:pPr indent="0" marL="0">
              <a:buNone/>
            </a:pPr>
            <a:r>
              <a:rPr lang="en-US" sz="1200" b="1" dirty="0">
                <a:solidFill>
                  <a:srgbClr val="14100E"/>
                </a:solidFill>
                <a:latin typeface="Calibri" pitchFamily="34" charset="0"/>
                <a:ea typeface="Calibri" pitchFamily="34" charset="-122"/>
                <a:cs typeface="Calibri" pitchFamily="34" charset="-120"/>
              </a:rPr>
              <a:t>Route</a:t>
            </a:r>
            <a:endParaRPr lang="en-US" sz="1200" dirty="0"/>
          </a:p>
        </p:txBody>
      </p:sp>
      <p:sp>
        <p:nvSpPr>
          <p:cNvPr id="20" name="Text 18"/>
          <p:cNvSpPr/>
          <p:nvPr/>
        </p:nvSpPr>
        <p:spPr>
          <a:xfrm>
            <a:off x="3108960" y="3886200"/>
            <a:ext cx="2926080" cy="41148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311 km · 3.3 h</a:t>
            </a:r>
            <a:endParaRPr lang="en-US" sz="1200" dirty="0"/>
          </a:p>
        </p:txBody>
      </p:sp>
      <p:sp>
        <p:nvSpPr>
          <p:cNvPr id="21" name="Text 19"/>
          <p:cNvSpPr/>
          <p:nvPr/>
        </p:nvSpPr>
        <p:spPr>
          <a:xfrm>
            <a:off x="731520" y="4370832"/>
            <a:ext cx="822960" cy="411480"/>
          </a:xfrm>
          <a:prstGeom prst="rect">
            <a:avLst/>
          </a:prstGeom>
          <a:noFill/>
          <a:ln/>
        </p:spPr>
        <p:txBody>
          <a:bodyPr wrap="square" lIns="0" tIns="0" rIns="0" bIns="0" rtlCol="0" anchor="ctr"/>
          <a:lstStyle/>
          <a:p>
            <a:pPr indent="0" marL="0">
              <a:buNone/>
            </a:pPr>
            <a:r>
              <a:rPr lang="en-US" sz="1300" b="1" dirty="0">
                <a:solidFill>
                  <a:srgbClr val="14663F"/>
                </a:solidFill>
                <a:latin typeface="Nirmala UI" pitchFamily="34" charset="0"/>
                <a:ea typeface="Nirmala UI" pitchFamily="34" charset="-122"/>
                <a:cs typeface="Nirmala UI" pitchFamily="34" charset="-120"/>
              </a:rPr>
              <a:t>पड़ाव</a:t>
            </a:r>
            <a:endParaRPr lang="en-US" sz="1300" dirty="0"/>
          </a:p>
        </p:txBody>
      </p:sp>
      <p:sp>
        <p:nvSpPr>
          <p:cNvPr id="22" name="Text 20"/>
          <p:cNvSpPr/>
          <p:nvPr/>
        </p:nvSpPr>
        <p:spPr>
          <a:xfrm>
            <a:off x="1600200" y="4370832"/>
            <a:ext cx="1463040" cy="411480"/>
          </a:xfrm>
          <a:prstGeom prst="rect">
            <a:avLst/>
          </a:prstGeom>
          <a:noFill/>
          <a:ln/>
        </p:spPr>
        <p:txBody>
          <a:bodyPr wrap="square" lIns="0" tIns="0" rIns="0" bIns="0" rtlCol="0" anchor="ctr"/>
          <a:lstStyle/>
          <a:p>
            <a:pPr indent="0" marL="0">
              <a:buNone/>
            </a:pPr>
            <a:r>
              <a:rPr lang="en-US" sz="1200" b="1" dirty="0">
                <a:solidFill>
                  <a:srgbClr val="14100E"/>
                </a:solidFill>
                <a:latin typeface="Calibri" pitchFamily="34" charset="0"/>
                <a:ea typeface="Calibri" pitchFamily="34" charset="-122"/>
                <a:cs typeface="Calibri" pitchFamily="34" charset="-120"/>
              </a:rPr>
              <a:t>Waypoints</a:t>
            </a:r>
            <a:endParaRPr lang="en-US" sz="1200" dirty="0"/>
          </a:p>
        </p:txBody>
      </p:sp>
      <p:sp>
        <p:nvSpPr>
          <p:cNvPr id="23" name="Text 21"/>
          <p:cNvSpPr/>
          <p:nvPr/>
        </p:nvSpPr>
        <p:spPr>
          <a:xfrm>
            <a:off x="3108960" y="4370832"/>
            <a:ext cx="2926080" cy="41148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14 waypoints</a:t>
            </a:r>
            <a:endParaRPr lang="en-US" sz="1200" dirty="0"/>
          </a:p>
        </p:txBody>
      </p:sp>
      <p:sp>
        <p:nvSpPr>
          <p:cNvPr id="24" name="Text 22"/>
          <p:cNvSpPr/>
          <p:nvPr/>
        </p:nvSpPr>
        <p:spPr>
          <a:xfrm>
            <a:off x="731520" y="4855464"/>
            <a:ext cx="822960" cy="411480"/>
          </a:xfrm>
          <a:prstGeom prst="rect">
            <a:avLst/>
          </a:prstGeom>
          <a:noFill/>
          <a:ln/>
        </p:spPr>
        <p:txBody>
          <a:bodyPr wrap="square" lIns="0" tIns="0" rIns="0" bIns="0" rtlCol="0" anchor="ctr"/>
          <a:lstStyle/>
          <a:p>
            <a:pPr indent="0" marL="0">
              <a:buNone/>
            </a:pPr>
            <a:r>
              <a:rPr lang="en-US" sz="1300" b="1" dirty="0">
                <a:solidFill>
                  <a:srgbClr val="14663F"/>
                </a:solidFill>
                <a:latin typeface="Nirmala UI" pitchFamily="34" charset="0"/>
                <a:ea typeface="Nirmala UI" pitchFamily="34" charset="-122"/>
                <a:cs typeface="Nirmala UI" pitchFamily="34" charset="-120"/>
              </a:rPr>
              <a:t>दर्शन</a:t>
            </a:r>
            <a:endParaRPr lang="en-US" sz="1300" dirty="0"/>
          </a:p>
        </p:txBody>
      </p:sp>
      <p:sp>
        <p:nvSpPr>
          <p:cNvPr id="25" name="Text 23"/>
          <p:cNvSpPr/>
          <p:nvPr/>
        </p:nvSpPr>
        <p:spPr>
          <a:xfrm>
            <a:off x="1600200" y="4855464"/>
            <a:ext cx="1463040" cy="411480"/>
          </a:xfrm>
          <a:prstGeom prst="rect">
            <a:avLst/>
          </a:prstGeom>
          <a:noFill/>
          <a:ln/>
        </p:spPr>
        <p:txBody>
          <a:bodyPr wrap="square" lIns="0" tIns="0" rIns="0" bIns="0" rtlCol="0" anchor="ctr"/>
          <a:lstStyle/>
          <a:p>
            <a:pPr indent="0" marL="0">
              <a:buNone/>
            </a:pPr>
            <a:r>
              <a:rPr lang="en-US" sz="1200" b="1" dirty="0">
                <a:solidFill>
                  <a:srgbClr val="14100E"/>
                </a:solidFill>
                <a:latin typeface="Calibri" pitchFamily="34" charset="0"/>
                <a:ea typeface="Calibri" pitchFamily="34" charset="-122"/>
                <a:cs typeface="Calibri" pitchFamily="34" charset="-120"/>
              </a:rPr>
              <a:t>Discover</a:t>
            </a:r>
            <a:endParaRPr lang="en-US" sz="1200" dirty="0"/>
          </a:p>
        </p:txBody>
      </p:sp>
      <p:sp>
        <p:nvSpPr>
          <p:cNvPr id="26" name="Text 24"/>
          <p:cNvSpPr/>
          <p:nvPr/>
        </p:nvSpPr>
        <p:spPr>
          <a:xfrm>
            <a:off x="3108960" y="4855464"/>
            <a:ext cx="2926080" cy="41148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134 places found</a:t>
            </a:r>
            <a:endParaRPr lang="en-US" sz="1200" dirty="0"/>
          </a:p>
        </p:txBody>
      </p:sp>
      <p:sp>
        <p:nvSpPr>
          <p:cNvPr id="27" name="Text 25"/>
          <p:cNvSpPr/>
          <p:nvPr/>
        </p:nvSpPr>
        <p:spPr>
          <a:xfrm>
            <a:off x="731520" y="5340096"/>
            <a:ext cx="822960" cy="411480"/>
          </a:xfrm>
          <a:prstGeom prst="rect">
            <a:avLst/>
          </a:prstGeom>
          <a:noFill/>
          <a:ln/>
        </p:spPr>
        <p:txBody>
          <a:bodyPr wrap="square" lIns="0" tIns="0" rIns="0" bIns="0" rtlCol="0" anchor="ctr"/>
          <a:lstStyle/>
          <a:p>
            <a:pPr indent="0" marL="0">
              <a:buNone/>
            </a:pPr>
            <a:r>
              <a:rPr lang="en-US" sz="1300" b="1" dirty="0">
                <a:solidFill>
                  <a:srgbClr val="14663F"/>
                </a:solidFill>
                <a:latin typeface="Nirmala UI" pitchFamily="34" charset="0"/>
                <a:ea typeface="Nirmala UI" pitchFamily="34" charset="-122"/>
                <a:cs typeface="Nirmala UI" pitchFamily="34" charset="-120"/>
              </a:rPr>
              <a:t>चुनाव</a:t>
            </a:r>
            <a:endParaRPr lang="en-US" sz="1300" dirty="0"/>
          </a:p>
        </p:txBody>
      </p:sp>
      <p:sp>
        <p:nvSpPr>
          <p:cNvPr id="28" name="Text 26"/>
          <p:cNvSpPr/>
          <p:nvPr/>
        </p:nvSpPr>
        <p:spPr>
          <a:xfrm>
            <a:off x="1600200" y="5340096"/>
            <a:ext cx="1463040" cy="411480"/>
          </a:xfrm>
          <a:prstGeom prst="rect">
            <a:avLst/>
          </a:prstGeom>
          <a:noFill/>
          <a:ln/>
        </p:spPr>
        <p:txBody>
          <a:bodyPr wrap="square" lIns="0" tIns="0" rIns="0" bIns="0" rtlCol="0" anchor="ctr"/>
          <a:lstStyle/>
          <a:p>
            <a:pPr indent="0" marL="0">
              <a:buNone/>
            </a:pPr>
            <a:r>
              <a:rPr lang="en-US" sz="1200" b="1" dirty="0">
                <a:solidFill>
                  <a:srgbClr val="14100E"/>
                </a:solidFill>
                <a:latin typeface="Calibri" pitchFamily="34" charset="0"/>
                <a:ea typeface="Calibri" pitchFamily="34" charset="-122"/>
                <a:cs typeface="Calibri" pitchFamily="34" charset="-120"/>
              </a:rPr>
              <a:t>Choose</a:t>
            </a:r>
            <a:endParaRPr lang="en-US" sz="1200" dirty="0"/>
          </a:p>
        </p:txBody>
      </p:sp>
      <p:sp>
        <p:nvSpPr>
          <p:cNvPr id="29" name="Text 27"/>
          <p:cNvSpPr/>
          <p:nvPr/>
        </p:nvSpPr>
        <p:spPr>
          <a:xfrm>
            <a:off x="3108960" y="5340096"/>
            <a:ext cx="2926080" cy="41148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12 stops chosen</a:t>
            </a:r>
            <a:endParaRPr lang="en-US" sz="1200" dirty="0"/>
          </a:p>
        </p:txBody>
      </p:sp>
      <p:sp>
        <p:nvSpPr>
          <p:cNvPr id="30" name="Text 28"/>
          <p:cNvSpPr/>
          <p:nvPr/>
        </p:nvSpPr>
        <p:spPr>
          <a:xfrm>
            <a:off x="731520" y="5824728"/>
            <a:ext cx="822960" cy="411480"/>
          </a:xfrm>
          <a:prstGeom prst="rect">
            <a:avLst/>
          </a:prstGeom>
          <a:noFill/>
          <a:ln/>
        </p:spPr>
        <p:txBody>
          <a:bodyPr wrap="square" lIns="0" tIns="0" rIns="0" bIns="0" rtlCol="0" anchor="ctr"/>
          <a:lstStyle/>
          <a:p>
            <a:pPr indent="0" marL="0">
              <a:buNone/>
            </a:pPr>
            <a:r>
              <a:rPr lang="en-US" sz="1300" b="1" dirty="0">
                <a:solidFill>
                  <a:srgbClr val="14663F"/>
                </a:solidFill>
                <a:latin typeface="Nirmala UI" pitchFamily="34" charset="0"/>
                <a:ea typeface="Nirmala UI" pitchFamily="34" charset="-122"/>
                <a:cs typeface="Nirmala UI" pitchFamily="34" charset="-120"/>
              </a:rPr>
              <a:t>कहानी</a:t>
            </a:r>
            <a:endParaRPr lang="en-US" sz="1300" dirty="0"/>
          </a:p>
        </p:txBody>
      </p:sp>
      <p:sp>
        <p:nvSpPr>
          <p:cNvPr id="31" name="Text 29"/>
          <p:cNvSpPr/>
          <p:nvPr/>
        </p:nvSpPr>
        <p:spPr>
          <a:xfrm>
            <a:off x="1600200" y="5824728"/>
            <a:ext cx="1463040" cy="411480"/>
          </a:xfrm>
          <a:prstGeom prst="rect">
            <a:avLst/>
          </a:prstGeom>
          <a:noFill/>
          <a:ln/>
        </p:spPr>
        <p:txBody>
          <a:bodyPr wrap="square" lIns="0" tIns="0" rIns="0" bIns="0" rtlCol="0" anchor="ctr"/>
          <a:lstStyle/>
          <a:p>
            <a:pPr indent="0" marL="0">
              <a:buNone/>
            </a:pPr>
            <a:r>
              <a:rPr lang="en-US" sz="1200" b="1" dirty="0">
                <a:solidFill>
                  <a:srgbClr val="14100E"/>
                </a:solidFill>
                <a:latin typeface="Calibri" pitchFamily="34" charset="0"/>
                <a:ea typeface="Calibri" pitchFamily="34" charset="-122"/>
                <a:cs typeface="Calibri" pitchFamily="34" charset="-120"/>
              </a:rPr>
              <a:t>Narrate</a:t>
            </a:r>
            <a:endParaRPr lang="en-US" sz="1200" dirty="0"/>
          </a:p>
        </p:txBody>
      </p:sp>
      <p:sp>
        <p:nvSpPr>
          <p:cNvPr id="32" name="Text 30"/>
          <p:cNvSpPr/>
          <p:nvPr/>
        </p:nvSpPr>
        <p:spPr>
          <a:xfrm>
            <a:off x="3108960" y="5824728"/>
            <a:ext cx="2926080" cy="411480"/>
          </a:xfrm>
          <a:prstGeom prst="rect">
            <a:avLst/>
          </a:prstGeom>
          <a:noFill/>
          <a:ln/>
        </p:spPr>
        <p:txBody>
          <a:bodyPr wrap="square" lIns="0" tIns="0" rIns="0" bIns="0" rtlCol="0" anchor="ctr"/>
          <a:lstStyle/>
          <a:p>
            <a:pPr indent="0" marL="0">
              <a:buNone/>
            </a:pPr>
            <a:r>
              <a:rPr lang="en-US" sz="1200" dirty="0">
                <a:solidFill>
                  <a:srgbClr val="5A5A52"/>
                </a:solidFill>
                <a:latin typeface="Calibri" pitchFamily="34" charset="0"/>
                <a:ea typeface="Calibri" pitchFamily="34" charset="-122"/>
                <a:cs typeface="Calibri" pitchFamily="34" charset="-120"/>
              </a:rPr>
              <a:t>itinerary ready</a:t>
            </a:r>
            <a:endParaRPr lang="en-US" sz="1200" dirty="0"/>
          </a:p>
        </p:txBody>
      </p:sp>
      <p:sp>
        <p:nvSpPr>
          <p:cNvPr id="33" name="Shape 31"/>
          <p:cNvSpPr/>
          <p:nvPr/>
        </p:nvSpPr>
        <p:spPr>
          <a:xfrm>
            <a:off x="6583680" y="3429000"/>
            <a:ext cx="4937760" cy="2286000"/>
          </a:xfrm>
          <a:prstGeom prst="roundRect">
            <a:avLst>
              <a:gd name="adj" fmla="val 2400"/>
            </a:avLst>
          </a:prstGeom>
          <a:solidFill>
            <a:srgbClr val="F4F1EA"/>
          </a:solidFill>
          <a:ln w="12700">
            <a:solidFill>
              <a:srgbClr val="E3DDCE"/>
            </a:solidFill>
            <a:prstDash val="solid"/>
          </a:ln>
        </p:spPr>
      </p:sp>
      <p:sp>
        <p:nvSpPr>
          <p:cNvPr id="34" name="Text 32"/>
          <p:cNvSpPr/>
          <p:nvPr/>
        </p:nvSpPr>
        <p:spPr>
          <a:xfrm>
            <a:off x="6812280" y="3611880"/>
            <a:ext cx="4480560" cy="274320"/>
          </a:xfrm>
          <a:prstGeom prst="rect">
            <a:avLst/>
          </a:prstGeom>
          <a:noFill/>
          <a:ln/>
        </p:spPr>
        <p:txBody>
          <a:bodyPr wrap="square" lIns="0" tIns="0" rIns="0" bIns="0" rtlCol="0" anchor="ctr"/>
          <a:lstStyle/>
          <a:p>
            <a:pPr indent="0" marL="0">
              <a:buNone/>
            </a:pPr>
            <a:r>
              <a:rPr lang="en-US" sz="1000" b="1" spc="250" kern="0" dirty="0">
                <a:solidFill>
                  <a:srgbClr val="C85A2E"/>
                </a:solidFill>
                <a:latin typeface="Calibri" pitchFamily="34" charset="0"/>
                <a:ea typeface="Calibri" pitchFamily="34" charset="-122"/>
                <a:cs typeface="Calibri" pitchFamily="34" charset="-120"/>
              </a:rPr>
              <a:t>PERFORMANCE</a:t>
            </a:r>
            <a:endParaRPr lang="en-US" sz="1000" dirty="0"/>
          </a:p>
        </p:txBody>
      </p:sp>
      <p:sp>
        <p:nvSpPr>
          <p:cNvPr id="35" name="Text 33"/>
          <p:cNvSpPr/>
          <p:nvPr/>
        </p:nvSpPr>
        <p:spPr>
          <a:xfrm>
            <a:off x="6812280" y="3977640"/>
            <a:ext cx="4480560" cy="1600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Cold request (all APIs live):  ~4–6 s</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Warm request (cached):  ≈ 60 ms</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Speed-up on repeated routes:  ~50–100×</a:t>
            </a:r>
            <a:endParaRPr lang="en-US" sz="1250" dirty="0"/>
          </a:p>
          <a:p>
            <a:pPr marL="342900" indent="-342900">
              <a:buSzPct val="100000"/>
              <a:buChar char="•"/>
            </a:pPr>
            <a:r>
              <a:rPr lang="en-US" sz="1250" dirty="0">
                <a:solidFill>
                  <a:srgbClr val="14100E"/>
                </a:solidFill>
                <a:latin typeface="Calibri" pitchFamily="34" charset="0"/>
                <a:ea typeface="Calibri" pitchFamily="34" charset="-122"/>
                <a:cs typeface="Calibri" pitchFamily="34" charset="-120"/>
              </a:rPr>
              <a:t>External API calls saved by caching: majority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11 · TESTING</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Testing</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3017520"/>
                <a:gridCol w="5669280"/>
                <a:gridCol w="219456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suite</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146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1466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14663F"/>
                    </a:solidFill>
                  </a:tcPr>
                </a:tc>
              </a:tr>
              <a:tr h="548640">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Geometry &amp; sampling</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Haversine distance, polyline sampling, ETA interpolation</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5 / 5 passed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Ranking logic</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Detour-budget filtering, travel order, even spread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Full pipeline (mocked)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End-to-end LangGraph run, external services stubbed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Passed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API endpoints</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Success path, caching, error responses, Q&amp;A endpoint</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4 / 4 passed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POI provider mapping</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Field mapping, rating normalisation, bad records</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3 / 3 passed</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Error handling</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Invalid route, missing keys, provider failure, offline</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c>
                  <a:txBody>
                    <a:bodyPr/>
                    <a:lstStyle/>
                    <a:p>
                      <a:pPr indent="0" marL="0">
                        <a:buNone/>
                      </a:pPr>
                      <a:r>
                        <a:rPr lang="en-US" sz="1200" dirty="0">
                          <a:solidFill>
                            <a:srgbClr val="14100E"/>
                          </a:solidFill>
                          <a:latin typeface="Calibri" pitchFamily="34" charset="0"/>
                          <a:ea typeface="Calibri" pitchFamily="34" charset="-122"/>
                          <a:cs typeface="Calibri" pitchFamily="34" charset="-120"/>
                        </a:rPr>
                        <a:t>Degrades gracefully</a:t>
                      </a:r>
                      <a:endParaRPr lang="en-US" sz="1200" dirty="0">
                        <a:latin typeface="Calibri" charset="0"/>
                        <a:ea typeface="Calibri" charset="0"/>
                        <a:cs typeface="Calibri" charset="0"/>
                      </a:endParaRPr>
                    </a:p>
                  </a:txBody>
                  <a:tcPr marL="82296" marR="82296" marT="82296" marB="82296" anchor="ctr">
                    <a:lnL w="12700" cap="flat" cmpd="sng" algn="ctr">
                      <a:solidFill>
                        <a:srgbClr val="E3DDCE"/>
                      </a:solidFill>
                      <a:prstDash val="solid"/>
                      <a:round/>
                      <a:headEnd type="none" w="med" len="med"/>
                      <a:tailEnd type="none" w="med" len="med"/>
                    </a:lnL>
                    <a:lnR w="12700" cap="flat" cmpd="sng" algn="ctr">
                      <a:solidFill>
                        <a:srgbClr val="E3DDCE"/>
                      </a:solidFill>
                      <a:prstDash val="solid"/>
                      <a:round/>
                      <a:headEnd type="none" w="med" len="med"/>
                      <a:tailEnd type="none" w="med" len="med"/>
                    </a:lnR>
                    <a:lnT w="12700" cap="flat" cmpd="sng" algn="ctr">
                      <a:solidFill>
                        <a:srgbClr val="E3DDCE"/>
                      </a:solidFill>
                      <a:prstDash val="solid"/>
                      <a:round/>
                      <a:headEnd type="none" w="med" len="med"/>
                      <a:tailEnd type="none" w="med" len="med"/>
                    </a:lnT>
                    <a:lnB w="12700" cap="flat" cmpd="sng" algn="ctr">
                      <a:solidFill>
                        <a:srgbClr val="E3DDCE"/>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760720"/>
            <a:ext cx="10881360" cy="320040"/>
          </a:xfrm>
          <a:prstGeom prst="rect">
            <a:avLst/>
          </a:prstGeom>
          <a:noFill/>
          <a:ln/>
        </p:spPr>
        <p:txBody>
          <a:bodyPr wrap="square" lIns="0" tIns="0" rIns="0" bIns="0" rtlCol="0" anchor="ctr"/>
          <a:lstStyle/>
          <a:p>
            <a:pPr indent="0" marL="0">
              <a:buNone/>
            </a:pPr>
            <a:r>
              <a:rPr lang="en-US" sz="1150" i="1" dirty="0">
                <a:solidFill>
                  <a:srgbClr val="5A5A52"/>
                </a:solidFill>
                <a:latin typeface="Calibri" pitchFamily="34" charset="0"/>
                <a:ea typeface="Calibri" pitchFamily="34" charset="-122"/>
                <a:cs typeface="Calibri" pitchFamily="34" charset="-120"/>
              </a:rPr>
              <a:t>All suites run without network access — external services are mocked, so results are deterministic.</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12 · VALUE</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Advantages &amp; Applications</a:t>
            </a:r>
            <a:endParaRPr lang="en-US" sz="3400" dirty="0"/>
          </a:p>
        </p:txBody>
      </p:sp>
      <p:sp>
        <p:nvSpPr>
          <p:cNvPr id="4" name="Shape 2"/>
          <p:cNvSpPr/>
          <p:nvPr/>
        </p:nvSpPr>
        <p:spPr>
          <a:xfrm>
            <a:off x="640080" y="1737360"/>
            <a:ext cx="5303520" cy="3931920"/>
          </a:xfrm>
          <a:prstGeom prst="roundRect">
            <a:avLst>
              <a:gd name="adj" fmla="val 1395"/>
            </a:avLst>
          </a:prstGeom>
          <a:solidFill>
            <a:srgbClr val="F4F1EA"/>
          </a:solidFill>
          <a:ln w="12700">
            <a:solidFill>
              <a:srgbClr val="E3DDCE"/>
            </a:solidFill>
            <a:prstDash val="solid"/>
          </a:ln>
        </p:spPr>
      </p:sp>
      <p:sp>
        <p:nvSpPr>
          <p:cNvPr id="5" name="Text 3"/>
          <p:cNvSpPr/>
          <p:nvPr/>
        </p:nvSpPr>
        <p:spPr>
          <a:xfrm>
            <a:off x="914400" y="1965960"/>
            <a:ext cx="4754880" cy="411480"/>
          </a:xfrm>
          <a:prstGeom prst="rect">
            <a:avLst/>
          </a:prstGeom>
          <a:noFill/>
          <a:ln/>
        </p:spPr>
        <p:txBody>
          <a:bodyPr wrap="square" lIns="0" tIns="0" rIns="0" bIns="0" rtlCol="0" anchor="ctr"/>
          <a:lstStyle/>
          <a:p>
            <a:pPr indent="0" marL="0">
              <a:buNone/>
            </a:pPr>
            <a:r>
              <a:rPr lang="en-US" sz="1900" b="1" dirty="0">
                <a:solidFill>
                  <a:srgbClr val="14100E"/>
                </a:solidFill>
                <a:latin typeface="Cambria" pitchFamily="34" charset="0"/>
                <a:ea typeface="Cambria" pitchFamily="34" charset="-122"/>
                <a:cs typeface="Cambria" pitchFamily="34" charset="-120"/>
              </a:rPr>
              <a:t>Advantages</a:t>
            </a:r>
            <a:endParaRPr lang="en-US" sz="1900" dirty="0"/>
          </a:p>
        </p:txBody>
      </p:sp>
      <p:sp>
        <p:nvSpPr>
          <p:cNvPr id="6" name="Text 4"/>
          <p:cNvSpPr/>
          <p:nvPr/>
        </p:nvSpPr>
        <p:spPr>
          <a:xfrm>
            <a:off x="914400" y="2468880"/>
            <a:ext cx="475488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Route-wide discovery instead of point search</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Schedule-safe: every stop respects a detour budget</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Explainable ranking — no opaque black box</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Grounded narration prevents invented places</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Bilingual interface (Hindi + English)</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Works offline-capable with cached results</a:t>
            </a:r>
            <a:endParaRPr lang="en-US" sz="1300" dirty="0"/>
          </a:p>
        </p:txBody>
      </p:sp>
      <p:sp>
        <p:nvSpPr>
          <p:cNvPr id="7" name="Shape 5"/>
          <p:cNvSpPr/>
          <p:nvPr/>
        </p:nvSpPr>
        <p:spPr>
          <a:xfrm>
            <a:off x="6217920" y="1737360"/>
            <a:ext cx="5303520" cy="3931920"/>
          </a:xfrm>
          <a:prstGeom prst="roundRect">
            <a:avLst>
              <a:gd name="adj" fmla="val 1395"/>
            </a:avLst>
          </a:prstGeom>
          <a:solidFill>
            <a:srgbClr val="FFFFFF"/>
          </a:solidFill>
          <a:ln w="12700">
            <a:solidFill>
              <a:srgbClr val="E3DDCE"/>
            </a:solidFill>
            <a:prstDash val="solid"/>
          </a:ln>
        </p:spPr>
      </p:sp>
      <p:sp>
        <p:nvSpPr>
          <p:cNvPr id="8" name="Text 6"/>
          <p:cNvSpPr/>
          <p:nvPr/>
        </p:nvSpPr>
        <p:spPr>
          <a:xfrm>
            <a:off x="6492240" y="1965960"/>
            <a:ext cx="4754880" cy="411480"/>
          </a:xfrm>
          <a:prstGeom prst="rect">
            <a:avLst/>
          </a:prstGeom>
          <a:noFill/>
          <a:ln/>
        </p:spPr>
        <p:txBody>
          <a:bodyPr wrap="square" lIns="0" tIns="0" rIns="0" bIns="0" rtlCol="0" anchor="ctr"/>
          <a:lstStyle/>
          <a:p>
            <a:pPr indent="0" marL="0">
              <a:buNone/>
            </a:pPr>
            <a:r>
              <a:rPr lang="en-US" sz="1900" b="1" dirty="0">
                <a:solidFill>
                  <a:srgbClr val="14100E"/>
                </a:solidFill>
                <a:latin typeface="Cambria" pitchFamily="34" charset="0"/>
                <a:ea typeface="Cambria" pitchFamily="34" charset="-122"/>
                <a:cs typeface="Cambria" pitchFamily="34" charset="-120"/>
              </a:rPr>
              <a:t>Applications</a:t>
            </a:r>
            <a:endParaRPr lang="en-US" sz="1900" dirty="0"/>
          </a:p>
        </p:txBody>
      </p:sp>
      <p:sp>
        <p:nvSpPr>
          <p:cNvPr id="9" name="Text 7"/>
          <p:cNvSpPr/>
          <p:nvPr/>
        </p:nvSpPr>
        <p:spPr>
          <a:xfrm>
            <a:off x="6492240" y="2468880"/>
            <a:ext cx="4754880" cy="3017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Weekend road trippers on tier-2 and tier-3 corridors</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Family trips needing safe breaks and food stops</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Culinary tourism — regional dishes town by town</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Travel content creators seeking lesser-known places</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State tourism boards promoting highway heritage</a:t>
            </a:r>
            <a:endParaRPr lang="en-US" sz="1300" dirty="0"/>
          </a:p>
          <a:p>
            <a:pPr marL="342900" indent="-342900">
              <a:spcAft>
                <a:spcPts val="800"/>
              </a:spcAft>
              <a:buSzPct val="100000"/>
              <a:buChar char="•"/>
            </a:pPr>
            <a:r>
              <a:rPr lang="en-US" sz="1300" dirty="0">
                <a:solidFill>
                  <a:srgbClr val="14100E"/>
                </a:solidFill>
                <a:latin typeface="Calibri" pitchFamily="34" charset="0"/>
                <a:ea typeface="Calibri" pitchFamily="34" charset="-122"/>
                <a:cs typeface="Calibri" pitchFamily="34" charset="-120"/>
              </a:rPr>
              <a:t>Fleet and cab operators planning driver rest stops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100" b="1" spc="300" kern="0" dirty="0">
                <a:solidFill>
                  <a:srgbClr val="C85A2E"/>
                </a:solidFill>
                <a:latin typeface="Calibri" pitchFamily="34" charset="0"/>
                <a:ea typeface="Calibri" pitchFamily="34" charset="-122"/>
                <a:cs typeface="Calibri" pitchFamily="34" charset="-120"/>
              </a:rPr>
              <a:t>12 · ROADMAP</a:t>
            </a:r>
            <a:endParaRPr lang="en-US" sz="1100" dirty="0"/>
          </a:p>
        </p:txBody>
      </p:sp>
      <p:sp>
        <p:nvSpPr>
          <p:cNvPr id="3" name="Text 1"/>
          <p:cNvSpPr/>
          <p:nvPr/>
        </p:nvSpPr>
        <p:spPr>
          <a:xfrm>
            <a:off x="640080" y="68580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Limitations &amp; Future Scope</a:t>
            </a:r>
            <a:endParaRPr lang="en-US" sz="3400" dirty="0"/>
          </a:p>
        </p:txBody>
      </p:sp>
      <p:sp>
        <p:nvSpPr>
          <p:cNvPr id="4" name="Shape 2"/>
          <p:cNvSpPr/>
          <p:nvPr/>
        </p:nvSpPr>
        <p:spPr>
          <a:xfrm>
            <a:off x="640080" y="1737360"/>
            <a:ext cx="5303520" cy="3931920"/>
          </a:xfrm>
          <a:prstGeom prst="roundRect">
            <a:avLst>
              <a:gd name="adj" fmla="val 1395"/>
            </a:avLst>
          </a:prstGeom>
          <a:solidFill>
            <a:srgbClr val="FFFFFF"/>
          </a:solidFill>
          <a:ln w="12700">
            <a:solidFill>
              <a:srgbClr val="E3DDCE"/>
            </a:solidFill>
            <a:prstDash val="solid"/>
          </a:ln>
        </p:spPr>
      </p:sp>
      <p:sp>
        <p:nvSpPr>
          <p:cNvPr id="5" name="Text 3"/>
          <p:cNvSpPr/>
          <p:nvPr/>
        </p:nvSpPr>
        <p:spPr>
          <a:xfrm>
            <a:off x="914400" y="1965960"/>
            <a:ext cx="4754880" cy="411480"/>
          </a:xfrm>
          <a:prstGeom prst="rect">
            <a:avLst/>
          </a:prstGeom>
          <a:noFill/>
          <a:ln/>
        </p:spPr>
        <p:txBody>
          <a:bodyPr wrap="square" lIns="0" tIns="0" rIns="0" bIns="0" rtlCol="0" anchor="ctr"/>
          <a:lstStyle/>
          <a:p>
            <a:pPr indent="0" marL="0">
              <a:buNone/>
            </a:pPr>
            <a:r>
              <a:rPr lang="en-US" sz="1800" b="1" dirty="0">
                <a:solidFill>
                  <a:srgbClr val="C85A2E"/>
                </a:solidFill>
                <a:latin typeface="Cambria" pitchFamily="34" charset="0"/>
                <a:ea typeface="Cambria" pitchFamily="34" charset="-122"/>
                <a:cs typeface="Cambria" pitchFamily="34" charset="-120"/>
              </a:rPr>
              <a:t>Current Limitations</a:t>
            </a:r>
            <a:endParaRPr lang="en-US" sz="1800" dirty="0"/>
          </a:p>
        </p:txBody>
      </p:sp>
      <p:sp>
        <p:nvSpPr>
          <p:cNvPr id="6" name="Text 4"/>
          <p:cNvSpPr/>
          <p:nvPr/>
        </p:nvSpPr>
        <p:spPr>
          <a:xfrm>
            <a:off x="914400" y="2468880"/>
            <a:ext cx="4754880" cy="3017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Fuel, toll and food costs are estimated from distance, not fetched live.</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Detour cost uses a straight-line heuristic rather than a routed detour.</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POI coverage thins out on smaller tier-3 corridors.</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Itinerary edits are client-side and are not yet persisted.</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Paid POI provider usage must be watched against quota.</a:t>
            </a:r>
            <a:endParaRPr lang="en-US" sz="1250" dirty="0"/>
          </a:p>
        </p:txBody>
      </p:sp>
      <p:sp>
        <p:nvSpPr>
          <p:cNvPr id="7" name="Shape 5"/>
          <p:cNvSpPr/>
          <p:nvPr/>
        </p:nvSpPr>
        <p:spPr>
          <a:xfrm>
            <a:off x="6217920" y="1737360"/>
            <a:ext cx="5303520" cy="3931920"/>
          </a:xfrm>
          <a:prstGeom prst="roundRect">
            <a:avLst>
              <a:gd name="adj" fmla="val 1395"/>
            </a:avLst>
          </a:prstGeom>
          <a:solidFill>
            <a:srgbClr val="F4F1EA"/>
          </a:solidFill>
          <a:ln w="12700">
            <a:solidFill>
              <a:srgbClr val="E3DDCE"/>
            </a:solidFill>
            <a:prstDash val="solid"/>
          </a:ln>
        </p:spPr>
      </p:sp>
      <p:sp>
        <p:nvSpPr>
          <p:cNvPr id="8" name="Text 6"/>
          <p:cNvSpPr/>
          <p:nvPr/>
        </p:nvSpPr>
        <p:spPr>
          <a:xfrm>
            <a:off x="6492240" y="1965960"/>
            <a:ext cx="4754880" cy="411480"/>
          </a:xfrm>
          <a:prstGeom prst="rect">
            <a:avLst/>
          </a:prstGeom>
          <a:noFill/>
          <a:ln/>
        </p:spPr>
        <p:txBody>
          <a:bodyPr wrap="square" lIns="0" tIns="0" rIns="0" bIns="0" rtlCol="0" anchor="ctr"/>
          <a:lstStyle/>
          <a:p>
            <a:pPr indent="0" marL="0">
              <a:buNone/>
            </a:pPr>
            <a:r>
              <a:rPr lang="en-US" sz="1800" b="1" dirty="0">
                <a:solidFill>
                  <a:srgbClr val="14663F"/>
                </a:solidFill>
                <a:latin typeface="Cambria" pitchFamily="34" charset="0"/>
                <a:ea typeface="Cambria" pitchFamily="34" charset="-122"/>
                <a:cs typeface="Cambria" pitchFamily="34" charset="-120"/>
              </a:rPr>
              <a:t>Future Scope</a:t>
            </a:r>
            <a:endParaRPr lang="en-US" sz="1800" dirty="0"/>
          </a:p>
        </p:txBody>
      </p:sp>
      <p:sp>
        <p:nvSpPr>
          <p:cNvPr id="9" name="Text 7"/>
          <p:cNvSpPr/>
          <p:nvPr/>
        </p:nvSpPr>
        <p:spPr>
          <a:xfrm>
            <a:off x="6492240" y="2468880"/>
            <a:ext cx="4754880" cy="3017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A “famous-for” knowledge agent for sparse regions.</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Vector-grounded Q&amp;A over the itinerary using Qdrant.</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User accounts with durable trip history and sharing.</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PDF export and public share links for co-passengers.</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Live weather, toll and fuel-price integration.</a:t>
            </a:r>
            <a:endParaRPr lang="en-US" sz="1250" dirty="0"/>
          </a:p>
          <a:p>
            <a:pPr marL="342900" indent="-342900">
              <a:spcAft>
                <a:spcPts val="800"/>
              </a:spcAft>
              <a:buSzPct val="100000"/>
              <a:buChar char="•"/>
            </a:pPr>
            <a:r>
              <a:rPr lang="en-US" sz="1250" dirty="0">
                <a:solidFill>
                  <a:srgbClr val="14100E"/>
                </a:solidFill>
                <a:latin typeface="Calibri" pitchFamily="34" charset="0"/>
                <a:ea typeface="Calibri" pitchFamily="34" charset="-122"/>
                <a:cs typeface="Calibri" pitchFamily="34" charset="-120"/>
              </a:rPr>
              <a:t>Hindi / Hinglish narration and an audio guide mode.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00E"/>
        </a:solidFill>
      </p:bgPr>
    </p:bg>
    <p:spTree>
      <p:nvGrpSpPr>
        <p:cNvPr id="1" name=""/>
        <p:cNvGrpSpPr/>
        <p:nvPr/>
      </p:nvGrpSpPr>
      <p:grpSpPr>
        <a:xfrm>
          <a:off x="0" y="0"/>
          <a:ext cx="0" cy="0"/>
          <a:chOff x="0" y="0"/>
          <a:chExt cx="0" cy="0"/>
        </a:xfrm>
      </p:grpSpPr>
      <p:sp>
        <p:nvSpPr>
          <p:cNvPr id="2" name="Text 0"/>
          <p:cNvSpPr/>
          <p:nvPr/>
        </p:nvSpPr>
        <p:spPr>
          <a:xfrm>
            <a:off x="640080" y="1097280"/>
            <a:ext cx="7315200" cy="731520"/>
          </a:xfrm>
          <a:prstGeom prst="rect">
            <a:avLst/>
          </a:prstGeom>
          <a:noFill/>
          <a:ln/>
        </p:spPr>
        <p:txBody>
          <a:bodyPr wrap="square" lIns="0" tIns="0" rIns="0" bIns="0" rtlCol="0" anchor="ctr"/>
          <a:lstStyle/>
          <a:p>
            <a:pPr indent="0" marL="0">
              <a:buNone/>
            </a:pPr>
            <a:r>
              <a:rPr lang="en-US" sz="3800" b="1" dirty="0">
                <a:solidFill>
                  <a:srgbClr val="F4F1EA"/>
                </a:solidFill>
                <a:latin typeface="Cambria" pitchFamily="34" charset="0"/>
                <a:ea typeface="Cambria" pitchFamily="34" charset="-122"/>
                <a:cs typeface="Cambria" pitchFamily="34" charset="-120"/>
              </a:rPr>
              <a:t>Conclusion</a:t>
            </a:r>
            <a:endParaRPr lang="en-US" sz="3800" dirty="0"/>
          </a:p>
        </p:txBody>
      </p:sp>
      <p:sp>
        <p:nvSpPr>
          <p:cNvPr id="3" name="Text 1"/>
          <p:cNvSpPr/>
          <p:nvPr/>
        </p:nvSpPr>
        <p:spPr>
          <a:xfrm>
            <a:off x="640080" y="2057400"/>
            <a:ext cx="6949440" cy="3108960"/>
          </a:xfrm>
          <a:prstGeom prst="rect">
            <a:avLst/>
          </a:prstGeom>
          <a:noFill/>
          <a:ln/>
        </p:spPr>
        <p:txBody>
          <a:bodyPr wrap="square" lIns="0" tIns="0" rIns="0" bIns="0" rtlCol="0" anchor="ctr"/>
          <a:lstStyle/>
          <a:p>
            <a:pPr indent="0" marL="0">
              <a:lnSpc>
                <a:spcPct val="135000"/>
              </a:lnSpc>
              <a:buNone/>
            </a:pPr>
            <a:r>
              <a:rPr lang="en-US" sz="1500" dirty="0">
                <a:solidFill>
                  <a:srgbClr val="C9C3B6"/>
                </a:solidFill>
                <a:latin typeface="Calibri" pitchFamily="34" charset="0"/>
                <a:ea typeface="Calibri" pitchFamily="34" charset="-122"/>
                <a:cs typeface="Calibri" pitchFamily="34" charset="-120"/>
              </a:rPr>
              <a:t>Rahgir demonstrates that a multi-agent architecture can turn a plain navigation query into a culturally aware travel plan. By sampling the route, discovering points of interest along its entire length and scoring them against an explicit, explainable function, the system surfaces places that conventional map services structurally cannot.</a:t>
            </a:r>
            <a:endParaRPr lang="en-US" sz="1500" dirty="0"/>
          </a:p>
          <a:p>
            <a:pPr indent="0" marL="0">
              <a:lnSpc>
                <a:spcPct val="135000"/>
              </a:lnSpc>
              <a:buNone/>
            </a:pPr>
            <a:endParaRPr lang="en-US" sz="1500" dirty="0"/>
          </a:p>
          <a:p>
            <a:pPr indent="0" marL="0">
              <a:lnSpc>
                <a:spcPct val="135000"/>
              </a:lnSpc>
              <a:buNone/>
            </a:pPr>
            <a:r>
              <a:rPr lang="en-US" sz="1500" dirty="0">
                <a:solidFill>
                  <a:srgbClr val="C9C3B6"/>
                </a:solidFill>
                <a:latin typeface="Calibri" pitchFamily="34" charset="0"/>
                <a:ea typeface="Calibri" pitchFamily="34" charset="-122"/>
                <a:cs typeface="Calibri" pitchFamily="34" charset="-120"/>
              </a:rPr>
              <a:t>Grounding the language model strictly in retrieved data keeps the narration trustworthy, while a layered cache makes repeated routes near-instant and keeps external API usage economical.</a:t>
            </a:r>
            <a:endParaRPr lang="en-US" sz="1500" dirty="0"/>
          </a:p>
          <a:p>
            <a:pPr indent="0" marL="0">
              <a:lnSpc>
                <a:spcPct val="135000"/>
              </a:lnSpc>
              <a:buNone/>
            </a:pPr>
            <a:endParaRPr lang="en-US" sz="1500" dirty="0"/>
          </a:p>
          <a:p>
            <a:pPr indent="0" marL="0">
              <a:lnSpc>
                <a:spcPct val="135000"/>
              </a:lnSpc>
              <a:buNone/>
            </a:pPr>
            <a:r>
              <a:rPr lang="en-US" sz="1500" dirty="0">
                <a:solidFill>
                  <a:srgbClr val="C9C3B6"/>
                </a:solidFill>
                <a:latin typeface="Calibri" pitchFamily="34" charset="0"/>
                <a:ea typeface="Calibri" pitchFamily="34" charset="-122"/>
                <a:cs typeface="Calibri" pitchFamily="34" charset="-120"/>
              </a:rPr>
              <a:t>The result is a working prototype that reframes the road itself as the destination.</a:t>
            </a:r>
            <a:endParaRPr lang="en-US" sz="1500" dirty="0"/>
          </a:p>
        </p:txBody>
      </p:sp>
      <p:sp>
        <p:nvSpPr>
          <p:cNvPr id="4" name="Text 2"/>
          <p:cNvSpPr/>
          <p:nvPr/>
        </p:nvSpPr>
        <p:spPr>
          <a:xfrm>
            <a:off x="640080" y="5349240"/>
            <a:ext cx="6949440" cy="457200"/>
          </a:xfrm>
          <a:prstGeom prst="rect">
            <a:avLst/>
          </a:prstGeom>
          <a:noFill/>
          <a:ln/>
        </p:spPr>
        <p:txBody>
          <a:bodyPr wrap="square" lIns="0" tIns="0" rIns="0" bIns="0" rtlCol="0" anchor="ctr"/>
          <a:lstStyle/>
          <a:p>
            <a:pPr indent="0" marL="0">
              <a:buNone/>
            </a:pPr>
            <a:r>
              <a:rPr lang="en-US" sz="2000" i="1" dirty="0">
                <a:solidFill>
                  <a:srgbClr val="F2B01E"/>
                </a:solidFill>
                <a:latin typeface="Cambria" pitchFamily="34" charset="0"/>
                <a:ea typeface="Cambria" pitchFamily="34" charset="-122"/>
                <a:cs typeface="Cambria" pitchFamily="34" charset="-120"/>
              </a:rPr>
              <a:t>“What's worth stopping for, near here?”</a:t>
            </a:r>
            <a:endParaRPr lang="en-US" sz="2000" dirty="0"/>
          </a:p>
        </p:txBody>
      </p:sp>
      <p:sp>
        <p:nvSpPr>
          <p:cNvPr id="5" name="Shape 3"/>
          <p:cNvSpPr/>
          <p:nvPr/>
        </p:nvSpPr>
        <p:spPr>
          <a:xfrm>
            <a:off x="8595360" y="1920240"/>
            <a:ext cx="1371600" cy="1755648"/>
          </a:xfrm>
          <a:prstGeom prst="roundRect">
            <a:avLst>
              <a:gd name="adj" fmla="val 30000"/>
            </a:avLst>
          </a:prstGeom>
          <a:solidFill>
            <a:srgbClr val="F4F1EA"/>
          </a:solidFill>
          <a:ln w="15875">
            <a:solidFill>
              <a:srgbClr val="14100E"/>
            </a:solidFill>
            <a:prstDash val="solid"/>
          </a:ln>
        </p:spPr>
      </p:sp>
      <p:sp>
        <p:nvSpPr>
          <p:cNvPr id="6" name="Shape 4"/>
          <p:cNvSpPr/>
          <p:nvPr/>
        </p:nvSpPr>
        <p:spPr>
          <a:xfrm>
            <a:off x="8595360" y="1920240"/>
            <a:ext cx="1371600" cy="702259"/>
          </a:xfrm>
          <a:prstGeom prst="roundRect">
            <a:avLst>
              <a:gd name="adj" fmla="val 58594"/>
            </a:avLst>
          </a:prstGeom>
          <a:solidFill>
            <a:srgbClr val="14663F"/>
          </a:solidFill>
          <a:ln/>
        </p:spPr>
      </p:sp>
      <p:sp>
        <p:nvSpPr>
          <p:cNvPr id="7" name="Text 5"/>
          <p:cNvSpPr/>
          <p:nvPr/>
        </p:nvSpPr>
        <p:spPr>
          <a:xfrm>
            <a:off x="8595360" y="2552273"/>
            <a:ext cx="1371600" cy="1088502"/>
          </a:xfrm>
          <a:prstGeom prst="rect">
            <a:avLst/>
          </a:prstGeom>
          <a:noFill/>
          <a:ln/>
        </p:spPr>
        <p:txBody>
          <a:bodyPr wrap="square" lIns="0" tIns="0" rIns="0" bIns="0" rtlCol="0" anchor="ctr"/>
          <a:lstStyle/>
          <a:p>
            <a:pPr algn="ctr" indent="0" marL="0">
              <a:buNone/>
            </a:pPr>
            <a:r>
              <a:rPr lang="en-US" sz="2600" b="1" dirty="0">
                <a:solidFill>
                  <a:srgbClr val="14100E"/>
                </a:solidFill>
                <a:latin typeface="Cambria" pitchFamily="34" charset="0"/>
                <a:ea typeface="Cambria" pitchFamily="34" charset="-122"/>
                <a:cs typeface="Cambria" pitchFamily="34" charset="-120"/>
              </a:rPr>
              <a:t>0</a:t>
            </a:r>
            <a:endParaRPr lang="en-US" sz="2600" dirty="0"/>
          </a:p>
        </p:txBody>
      </p:sp>
      <p:sp>
        <p:nvSpPr>
          <p:cNvPr id="8" name="Shape 6"/>
          <p:cNvSpPr/>
          <p:nvPr/>
        </p:nvSpPr>
        <p:spPr>
          <a:xfrm>
            <a:off x="10149840" y="1920240"/>
            <a:ext cx="1371600" cy="1755648"/>
          </a:xfrm>
          <a:prstGeom prst="roundRect">
            <a:avLst>
              <a:gd name="adj" fmla="val 30000"/>
            </a:avLst>
          </a:prstGeom>
          <a:solidFill>
            <a:srgbClr val="F4F1EA"/>
          </a:solidFill>
          <a:ln w="15875">
            <a:solidFill>
              <a:srgbClr val="14100E"/>
            </a:solidFill>
            <a:prstDash val="solid"/>
          </a:ln>
        </p:spPr>
      </p:sp>
      <p:sp>
        <p:nvSpPr>
          <p:cNvPr id="9" name="Shape 7"/>
          <p:cNvSpPr/>
          <p:nvPr/>
        </p:nvSpPr>
        <p:spPr>
          <a:xfrm>
            <a:off x="10149840" y="1920240"/>
            <a:ext cx="1371600" cy="702259"/>
          </a:xfrm>
          <a:prstGeom prst="roundRect">
            <a:avLst>
              <a:gd name="adj" fmla="val 58594"/>
            </a:avLst>
          </a:prstGeom>
          <a:solidFill>
            <a:srgbClr val="C85A2E"/>
          </a:solidFill>
          <a:ln/>
        </p:spPr>
      </p:sp>
      <p:sp>
        <p:nvSpPr>
          <p:cNvPr id="10" name="Text 8"/>
          <p:cNvSpPr/>
          <p:nvPr/>
        </p:nvSpPr>
        <p:spPr>
          <a:xfrm>
            <a:off x="10149840" y="2552273"/>
            <a:ext cx="1371600" cy="1088502"/>
          </a:xfrm>
          <a:prstGeom prst="rect">
            <a:avLst/>
          </a:prstGeom>
          <a:noFill/>
          <a:ln/>
        </p:spPr>
        <p:txBody>
          <a:bodyPr wrap="square" lIns="0" tIns="0" rIns="0" bIns="0" rtlCol="0" anchor="ctr"/>
          <a:lstStyle/>
          <a:p>
            <a:pPr algn="ctr" indent="0" marL="0">
              <a:buNone/>
            </a:pPr>
            <a:r>
              <a:rPr lang="en-US" sz="2600" b="1" dirty="0">
                <a:solidFill>
                  <a:srgbClr val="14100E"/>
                </a:solidFill>
                <a:latin typeface="Cambria" pitchFamily="34" charset="0"/>
                <a:ea typeface="Cambria" pitchFamily="34" charset="-122"/>
                <a:cs typeface="Cambria" pitchFamily="34" charset="-120"/>
              </a:rPr>
              <a:t>311</a:t>
            </a:r>
            <a:endParaRPr lang="en-US" sz="2600" dirty="0"/>
          </a:p>
        </p:txBody>
      </p:sp>
      <p:sp>
        <p:nvSpPr>
          <p:cNvPr id="11" name="Text 9"/>
          <p:cNvSpPr/>
          <p:nvPr/>
        </p:nvSpPr>
        <p:spPr>
          <a:xfrm>
            <a:off x="8595360" y="3794760"/>
            <a:ext cx="1371600" cy="274320"/>
          </a:xfrm>
          <a:prstGeom prst="rect">
            <a:avLst/>
          </a:prstGeom>
          <a:noFill/>
          <a:ln/>
        </p:spPr>
        <p:txBody>
          <a:bodyPr wrap="square" lIns="0" tIns="0" rIns="0" bIns="0" rtlCol="0" anchor="ctr"/>
          <a:lstStyle/>
          <a:p>
            <a:pPr algn="ctr" indent="0" marL="0">
              <a:buNone/>
            </a:pPr>
            <a:r>
              <a:rPr lang="en-US" sz="1100" dirty="0">
                <a:solidFill>
                  <a:srgbClr val="9E988C"/>
                </a:solidFill>
                <a:latin typeface="Calibri" pitchFamily="34" charset="0"/>
                <a:ea typeface="Calibri" pitchFamily="34" charset="-122"/>
                <a:cs typeface="Calibri" pitchFamily="34" charset="-120"/>
              </a:rPr>
              <a:t>Delhi</a:t>
            </a:r>
            <a:endParaRPr lang="en-US" sz="1100" dirty="0"/>
          </a:p>
        </p:txBody>
      </p:sp>
      <p:sp>
        <p:nvSpPr>
          <p:cNvPr id="12" name="Text 10"/>
          <p:cNvSpPr/>
          <p:nvPr/>
        </p:nvSpPr>
        <p:spPr>
          <a:xfrm>
            <a:off x="10149840" y="3794760"/>
            <a:ext cx="1371600" cy="274320"/>
          </a:xfrm>
          <a:prstGeom prst="rect">
            <a:avLst/>
          </a:prstGeom>
          <a:noFill/>
          <a:ln/>
        </p:spPr>
        <p:txBody>
          <a:bodyPr wrap="square" lIns="0" tIns="0" rIns="0" bIns="0" rtlCol="0" anchor="ctr"/>
          <a:lstStyle/>
          <a:p>
            <a:pPr algn="ctr" indent="0" marL="0">
              <a:buNone/>
            </a:pPr>
            <a:r>
              <a:rPr lang="en-US" sz="1100" dirty="0">
                <a:solidFill>
                  <a:srgbClr val="9E988C"/>
                </a:solidFill>
                <a:latin typeface="Calibri" pitchFamily="34" charset="0"/>
                <a:ea typeface="Calibri" pitchFamily="34" charset="-122"/>
                <a:cs typeface="Calibri" pitchFamily="34" charset="-120"/>
              </a:rPr>
              <a:t>Jaipur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lIns="0" tIns="0" rIns="0" bIns="0" rtlCol="0" anchor="ctr"/>
          <a:lstStyle/>
          <a:p>
            <a:pPr indent="0" marL="0">
              <a:buNone/>
            </a:pPr>
            <a:r>
              <a:rPr lang="en-US" sz="3400" b="1" dirty="0">
                <a:solidFill>
                  <a:srgbClr val="14100E"/>
                </a:solidFill>
                <a:latin typeface="Cambria" pitchFamily="34" charset="0"/>
                <a:ea typeface="Cambria" pitchFamily="34" charset="-122"/>
                <a:cs typeface="Cambria" pitchFamily="34" charset="-120"/>
              </a:rPr>
              <a:t>References</a:t>
            </a:r>
            <a:endParaRPr lang="en-US" sz="3400" dirty="0"/>
          </a:p>
        </p:txBody>
      </p:sp>
      <p:sp>
        <p:nvSpPr>
          <p:cNvPr id="3" name="Text 1"/>
          <p:cNvSpPr/>
          <p:nvPr/>
        </p:nvSpPr>
        <p:spPr>
          <a:xfrm>
            <a:off x="640080" y="1645920"/>
            <a:ext cx="10881360" cy="4480560"/>
          </a:xfrm>
          <a:prstGeom prst="rect">
            <a:avLst/>
          </a:prstGeom>
          <a:noFill/>
          <a:ln/>
        </p:spPr>
        <p:txBody>
          <a:bodyPr wrap="square" lIns="0" tIns="0" rIns="0" bIns="0" rtlCol="0" anchor="t"/>
          <a:lstStyle/>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[1]  LangGraph Documentation — Building Stateful Multi-Agent Applications. LangChain Inc., 2024.</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[2]  OpenRouteService API Documentation — Directions and Geocoding Services. HeiGIT, Heidelberg University.</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[3]  Google Places API (New) — Nearby Search, Text Search and Place Photos. Google Maps Platform Documentation.</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[4]  OpenTripMap API — Open Database of Tourist Attractions and Points of Interest.</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[5]  FastAPI Documentation — Modern, High-Performance Python Web Framework. S. Ramírez.</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[6]  React 19 Documentation — Meta Open Source, 2024.</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[7]  Web Content Accessibility Guidelines (WCAG) 2.1 / 2.2. World Wide Web Consortium (W3C).</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[8]  Redis Documentation — Caching Patterns and Data Expiry Strategies.</a:t>
            </a:r>
            <a:endParaRPr lang="en-US" sz="1300" dirty="0"/>
          </a:p>
          <a:p>
            <a:pPr indent="0" marL="0">
              <a:spcAft>
                <a:spcPts val="1000"/>
              </a:spcAft>
              <a:buNone/>
            </a:pPr>
            <a:r>
              <a:rPr lang="en-US" sz="1300" dirty="0">
                <a:solidFill>
                  <a:srgbClr val="14100E"/>
                </a:solidFill>
                <a:latin typeface="Calibri" pitchFamily="34" charset="0"/>
                <a:ea typeface="Calibri" pitchFamily="34" charset="-122"/>
                <a:cs typeface="Calibri" pitchFamily="34" charset="-120"/>
              </a:rPr>
              <a:t>[9]  Ministry of Tourism, Government of India — India Tourism Statistics (Domestic Travel Trends).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00E"/>
        </a:solidFill>
      </p:bgPr>
    </p:bg>
    <p:spTree>
      <p:nvGrpSpPr>
        <p:cNvPr id="1" name=""/>
        <p:cNvGrpSpPr/>
        <p:nvPr/>
      </p:nvGrpSpPr>
      <p:grpSpPr>
        <a:xfrm>
          <a:off x="0" y="0"/>
          <a:ext cx="0" cy="0"/>
          <a:chOff x="0" y="0"/>
          <a:chExt cx="0" cy="0"/>
        </a:xfrm>
      </p:grpSpPr>
      <p:sp>
        <p:nvSpPr>
          <p:cNvPr id="2" name="Text 0"/>
          <p:cNvSpPr/>
          <p:nvPr/>
        </p:nvSpPr>
        <p:spPr>
          <a:xfrm>
            <a:off x="0" y="2468880"/>
            <a:ext cx="12161520" cy="914400"/>
          </a:xfrm>
          <a:prstGeom prst="rect">
            <a:avLst/>
          </a:prstGeom>
          <a:noFill/>
          <a:ln/>
        </p:spPr>
        <p:txBody>
          <a:bodyPr wrap="square" lIns="0" tIns="0" rIns="0" bIns="0" rtlCol="0" anchor="ctr"/>
          <a:lstStyle/>
          <a:p>
            <a:pPr algn="ctr" indent="0" marL="0">
              <a:buNone/>
            </a:pPr>
            <a:r>
              <a:rPr lang="en-US" sz="4600" b="1" dirty="0">
                <a:solidFill>
                  <a:srgbClr val="F4F1EA"/>
                </a:solidFill>
                <a:latin typeface="Cambria" pitchFamily="34" charset="0"/>
                <a:ea typeface="Cambria" pitchFamily="34" charset="-122"/>
                <a:cs typeface="Cambria" pitchFamily="34" charset="-120"/>
              </a:rPr>
              <a:t>Thank You</a:t>
            </a:r>
            <a:endParaRPr lang="en-US" sz="4600" dirty="0"/>
          </a:p>
        </p:txBody>
      </p:sp>
      <p:sp>
        <p:nvSpPr>
          <p:cNvPr id="3" name="Text 1"/>
          <p:cNvSpPr/>
          <p:nvPr/>
        </p:nvSpPr>
        <p:spPr>
          <a:xfrm>
            <a:off x="0" y="3429000"/>
            <a:ext cx="12161520" cy="457200"/>
          </a:xfrm>
          <a:prstGeom prst="rect">
            <a:avLst/>
          </a:prstGeom>
          <a:noFill/>
          <a:ln/>
        </p:spPr>
        <p:txBody>
          <a:bodyPr wrap="square" lIns="0" tIns="0" rIns="0" bIns="0" rtlCol="0" anchor="ctr"/>
          <a:lstStyle/>
          <a:p>
            <a:pPr algn="ctr" indent="0" marL="0">
              <a:buNone/>
            </a:pPr>
            <a:r>
              <a:rPr lang="en-US" sz="1600" dirty="0">
                <a:solidFill>
                  <a:srgbClr val="9E988C"/>
                </a:solidFill>
                <a:latin typeface="Calibri" pitchFamily="34" charset="0"/>
                <a:ea typeface="Calibri" pitchFamily="34" charset="-122"/>
                <a:cs typeface="Calibri" pitchFamily="34" charset="-120"/>
              </a:rPr>
              <a:t>Questions are welcome</a:t>
            </a:r>
            <a:endParaRPr lang="en-US" sz="1600" dirty="0"/>
          </a:p>
        </p:txBody>
      </p:sp>
      <p:sp>
        <p:nvSpPr>
          <p:cNvPr id="4" name="Text 2"/>
          <p:cNvSpPr/>
          <p:nvPr/>
        </p:nvSpPr>
        <p:spPr>
          <a:xfrm>
            <a:off x="0" y="4480560"/>
            <a:ext cx="12161520" cy="365760"/>
          </a:xfrm>
          <a:prstGeom prst="rect">
            <a:avLst/>
          </a:prstGeom>
          <a:noFill/>
          <a:ln/>
        </p:spPr>
        <p:txBody>
          <a:bodyPr wrap="square" lIns="0" tIns="0" rIns="0" bIns="0" rtlCol="0" anchor="ctr"/>
          <a:lstStyle/>
          <a:p>
            <a:pPr algn="ctr" indent="0" marL="0">
              <a:buNone/>
            </a:pPr>
            <a:r>
              <a:rPr lang="en-US" sz="1300" dirty="0">
                <a:solidFill>
                  <a:srgbClr val="F2B01E"/>
                </a:solidFill>
                <a:latin typeface="Calibri" pitchFamily="34" charset="0"/>
                <a:ea typeface="Calibri" pitchFamily="34" charset="-122"/>
                <a:cs typeface="Calibri" pitchFamily="34" charset="-120"/>
              </a:rPr>
              <a:t>Raj Porwal  ·  Rameshwar Tripathi  ·  Shashank Kumar  ·  Rahul Singh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Rahgir — AI Route Travel Assistant for Indian Road Trips</dc:title>
  <dc:subject>PptxGenJS Presentation</dc:subject>
  <dc:creator>Raj Porwal, Rameshwar Tripathi, Shashank Kumar, Rahul Singh</dc:creator>
  <cp:lastModifiedBy>Raj Porwal, Rameshwar Tripathi, Shashank Kumar, Rahul Singh</cp:lastModifiedBy>
  <cp:revision>1</cp:revision>
  <dcterms:created xsi:type="dcterms:W3CDTF">2026-08-17T09:19:30Z</dcterms:created>
  <dcterms:modified xsi:type="dcterms:W3CDTF">2026-08-17T09:19:30Z</dcterms:modified>
</cp:coreProperties>
</file>