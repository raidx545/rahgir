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6858000" cy="9144000"/>
  <p:embeddedFontLst>
    <p:embeddedFont>
      <p:font typeface="Calibri (MS)" charset="1" panose="020F0502020204030204"/>
      <p:regular r:id="rId16"/>
    </p:embeddedFont>
    <p:embeddedFont>
      <p:font typeface="Arimo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5449" y="325117"/>
            <a:ext cx="7462548" cy="1976698"/>
            <a:chOff x="0" y="0"/>
            <a:chExt cx="9950064" cy="2635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50068" cy="2635599"/>
            </a:xfrm>
            <a:custGeom>
              <a:avLst/>
              <a:gdLst/>
              <a:ahLst/>
              <a:cxnLst/>
              <a:rect r="r" b="b" t="t" l="l"/>
              <a:pathLst>
                <a:path h="2635599" w="9950068">
                  <a:moveTo>
                    <a:pt x="0" y="0"/>
                  </a:moveTo>
                  <a:lnTo>
                    <a:pt x="9950068" y="0"/>
                  </a:lnTo>
                  <a:lnTo>
                    <a:pt x="9950068" y="2635599"/>
                  </a:lnTo>
                  <a:lnTo>
                    <a:pt x="0" y="26355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55" r="-10093" b="-282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9950064" cy="27022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RAHGIR (राहगीर)</a:t>
              </a:r>
            </a:p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Multi-Agent AI Travel Assistant for Indian Road Trips</a:t>
              </a:r>
            </a:p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Project / 5ᵗʰ Sem / BCS554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4050" y="4071623"/>
            <a:ext cx="370682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2"/>
              </a:lnSpc>
              <a:spcBef>
                <a:spcPct val="0"/>
              </a:spcBef>
            </a:pPr>
            <a:r>
              <a:rPr lang="en-US" sz="1344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NAME :</a:t>
            </a:r>
          </a:p>
          <a:p>
            <a:pPr algn="l" marL="0" indent="0" lvl="0">
              <a:lnSpc>
                <a:spcPts val="1612"/>
              </a:lnSpc>
              <a:spcBef>
                <a:spcPct val="0"/>
              </a:spcBef>
            </a:pPr>
            <a:r>
              <a:rPr lang="en-US" sz="1344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Raj Porwl 2400320100875</a:t>
            </a:r>
          </a:p>
          <a:p>
            <a:pPr algn="l" marL="0" indent="0" lvl="0">
              <a:lnSpc>
                <a:spcPts val="1612"/>
              </a:lnSpc>
              <a:spcBef>
                <a:spcPct val="0"/>
              </a:spcBef>
            </a:pPr>
            <a:r>
              <a:rPr lang="en-US" sz="1344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Rameshwar Tripathi 2400320100888</a:t>
            </a:r>
          </a:p>
          <a:p>
            <a:pPr algn="l" marL="0" indent="0" lvl="0">
              <a:lnSpc>
                <a:spcPts val="1612"/>
              </a:lnSpc>
              <a:spcBef>
                <a:spcPct val="0"/>
              </a:spcBef>
            </a:pPr>
            <a:r>
              <a:rPr lang="en-US" sz="1344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Shashank Kumar 2400320101027</a:t>
            </a:r>
          </a:p>
          <a:p>
            <a:pPr algn="l" marL="0" indent="0" lvl="0">
              <a:lnSpc>
                <a:spcPts val="1612"/>
              </a:lnSpc>
              <a:spcBef>
                <a:spcPct val="0"/>
              </a:spcBef>
            </a:pPr>
            <a:r>
              <a:rPr lang="en-US" sz="1344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Rahul Singh 2400320100872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42378" y="4062098"/>
            <a:ext cx="249936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sz="213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SUPERVISOR NAME:</a:t>
            </a:r>
          </a:p>
          <a:p>
            <a:pPr algn="ctr">
              <a:lnSpc>
                <a:spcPts val="2048"/>
              </a:lnSpc>
            </a:pPr>
            <a:r>
              <a:rPr lang="en-US" sz="17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Mr.Praveen Kumar Rai</a:t>
            </a:r>
          </a:p>
          <a:p>
            <a:pPr algn="ctr">
              <a:lnSpc>
                <a:spcPts val="2048"/>
              </a:lnSpc>
            </a:pPr>
            <a:r>
              <a:rPr lang="en-US" sz="17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(Assistant Professor)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27997" y="325117"/>
            <a:ext cx="1351283" cy="1351283"/>
            <a:chOff x="0" y="0"/>
            <a:chExt cx="1801711" cy="1801711"/>
          </a:xfrm>
        </p:grpSpPr>
        <p:sp>
          <p:nvSpPr>
            <p:cNvPr name="Freeform 8" id="8" descr="images.jpg"/>
            <p:cNvSpPr/>
            <p:nvPr/>
          </p:nvSpPr>
          <p:spPr>
            <a:xfrm flipH="false" flipV="false" rot="0">
              <a:off x="0" y="0"/>
              <a:ext cx="1801749" cy="1801749"/>
            </a:xfrm>
            <a:custGeom>
              <a:avLst/>
              <a:gdLst/>
              <a:ahLst/>
              <a:cxnLst/>
              <a:rect r="r" b="b" t="t" l="l"/>
              <a:pathLst>
                <a:path h="1801749" w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905" y="150188"/>
            <a:ext cx="8773547" cy="1568027"/>
            <a:chOff x="0" y="0"/>
            <a:chExt cx="11698063" cy="209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98063" cy="2090705"/>
            </a:xfrm>
            <a:custGeom>
              <a:avLst/>
              <a:gdLst/>
              <a:ahLst/>
              <a:cxnLst/>
              <a:rect r="r" b="b" t="t" l="l"/>
              <a:pathLst>
                <a:path h="2090705" w="11698063">
                  <a:moveTo>
                    <a:pt x="0" y="0"/>
                  </a:moveTo>
                  <a:lnTo>
                    <a:pt x="11698063" y="0"/>
                  </a:lnTo>
                  <a:lnTo>
                    <a:pt x="11698063" y="2090705"/>
                  </a:lnTo>
                  <a:lnTo>
                    <a:pt x="0" y="20907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022" r="5505" b="-530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698063" cy="2185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5627"/>
                </a:lnSpc>
                <a:spcBef>
                  <a:spcPct val="0"/>
                </a:spcBef>
              </a:pPr>
              <a:r>
                <a:rPr lang="en-US" sz="4689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ABSTRACT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02317" y="150188"/>
            <a:ext cx="1351283" cy="1351283"/>
            <a:chOff x="0" y="0"/>
            <a:chExt cx="1801711" cy="1801711"/>
          </a:xfrm>
        </p:grpSpPr>
        <p:sp>
          <p:nvSpPr>
            <p:cNvPr name="Freeform 6" id="6" descr="images.jpg"/>
            <p:cNvSpPr/>
            <p:nvPr/>
          </p:nvSpPr>
          <p:spPr>
            <a:xfrm flipH="false" flipV="false" rot="0">
              <a:off x="0" y="0"/>
              <a:ext cx="1801749" cy="1801749"/>
            </a:xfrm>
            <a:custGeom>
              <a:avLst/>
              <a:gdLst/>
              <a:ahLst/>
              <a:cxnLst/>
              <a:rect r="r" b="b" t="t" l="l"/>
              <a:pathLst>
                <a:path h="1801749" w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41905" y="1763403"/>
            <a:ext cx="8676392" cy="415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RAHGIR (राहगीर) is a multi-agent AI travel assistant that plans complete road trips across India from a single natural-language request.</a:t>
            </a:r>
          </a:p>
          <a:p>
            <a:pPr algn="l">
              <a:lnSpc>
                <a:spcPts val="2204"/>
              </a:lnSpc>
            </a:pPr>
          </a:p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Existing map apps give the shortest route, but not the experience - they cannot tell a traveller what a place is famous for, or what is worth stopping for on the way.</a:t>
            </a:r>
          </a:p>
          <a:p>
            <a:pPr algn="l">
              <a:lnSpc>
                <a:spcPts val="2204"/>
              </a:lnSpc>
            </a:pPr>
          </a:p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RAHGIR uses a LangGraph-orchestrated team of specialised AI agents (route, discovery, "famous-for", and itinerary agents) built on a FastAPI backend.</a:t>
            </a:r>
          </a:p>
          <a:p>
            <a:pPr algn="l">
              <a:lnSpc>
                <a:spcPts val="2204"/>
              </a:lnSpc>
            </a:pPr>
          </a:p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Routing data comes from OpenRouteService and points of interest from the Google Places API (with OpenTripMap as fallback); an LLM layer enriches each stop with local context, food, and culture.</a:t>
            </a:r>
          </a:p>
          <a:p>
            <a:pPr algn="l">
              <a:lnSpc>
                <a:spcPts val="2204"/>
              </a:lnSpc>
            </a:pPr>
          </a:p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Output is a day-wise, drive-time-aware itinerary with detours, halts, and local highlights - tailored to Indian highway travel.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0243" y="164250"/>
            <a:ext cx="8290560" cy="1568027"/>
            <a:chOff x="0" y="0"/>
            <a:chExt cx="11054080" cy="209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4080" cy="2090705"/>
            </a:xfrm>
            <a:custGeom>
              <a:avLst/>
              <a:gdLst/>
              <a:ahLst/>
              <a:cxnLst/>
              <a:rect r="r" b="b" t="t" l="l"/>
              <a:pathLst>
                <a:path h="2090705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5"/>
                  </a:lnTo>
                  <a:lnTo>
                    <a:pt x="0" y="20907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022" r="0" b="-530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054080" cy="2185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5627"/>
                </a:lnSpc>
                <a:spcBef>
                  <a:spcPct val="0"/>
                </a:spcBef>
              </a:pPr>
              <a:r>
                <a:rPr lang="en-US" sz="4689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OBJECTIVE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11150" y="164250"/>
            <a:ext cx="1351283" cy="1351283"/>
            <a:chOff x="0" y="0"/>
            <a:chExt cx="1801711" cy="1801711"/>
          </a:xfrm>
        </p:grpSpPr>
        <p:sp>
          <p:nvSpPr>
            <p:cNvPr name="Freeform 6" id="6" descr="images.jpg"/>
            <p:cNvSpPr/>
            <p:nvPr/>
          </p:nvSpPr>
          <p:spPr>
            <a:xfrm flipH="false" flipV="false" rot="0">
              <a:off x="0" y="0"/>
              <a:ext cx="1801749" cy="1801749"/>
            </a:xfrm>
            <a:custGeom>
              <a:avLst/>
              <a:gdLst/>
              <a:ahLst/>
              <a:cxnLst/>
              <a:rect r="r" b="b" t="t" l="l"/>
              <a:pathLst>
                <a:path h="1801749" w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97244" y="1523987"/>
            <a:ext cx="8343559" cy="438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To build an AI travel assistant that converts a plain-language request (e.g. “Delhi to Jaipur in 2 days”) into a complete, day-wise road-trip itinerary.</a:t>
            </a: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To design a multi-agent architecture using LangGraph, where each agent handles one responsibility - routing, discovery, enrichment, and planning.</a:t>
            </a: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To integrate real routing and POI data (OpenRouteService for routing, Google Places for POIs) instead of relying only on LLM memory, reducing hallucinated places.</a:t>
            </a: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To implement a “famous-for” agent that explains why each stop matters - its food, heritage, or local speciality.</a:t>
            </a: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To expose the system through a FastAPI backend with a clean web interface, keeping response time practical for real use.</a:t>
            </a: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To focus specifically on Indian highway travel, including tier-2 and tier-3 towns that mainstream travel apps ignore.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156372"/>
            <a:ext cx="7867946" cy="1660128"/>
            <a:chOff x="0" y="0"/>
            <a:chExt cx="10490595" cy="2213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90595" cy="2213507"/>
            </a:xfrm>
            <a:custGeom>
              <a:avLst/>
              <a:gdLst/>
              <a:ahLst/>
              <a:cxnLst/>
              <a:rect r="r" b="b" t="t" l="l"/>
              <a:pathLst>
                <a:path h="2213507" w="10490595">
                  <a:moveTo>
                    <a:pt x="0" y="0"/>
                  </a:moveTo>
                  <a:lnTo>
                    <a:pt x="10490595" y="0"/>
                  </a:lnTo>
                  <a:lnTo>
                    <a:pt x="10490595" y="2213507"/>
                  </a:lnTo>
                  <a:lnTo>
                    <a:pt x="0" y="22135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080" r="-5371" b="-4453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0490595" cy="230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5632"/>
                </a:lnSpc>
                <a:spcBef>
                  <a:spcPct val="0"/>
                </a:spcBef>
              </a:pPr>
              <a:r>
                <a:rPr lang="en-US" sz="4693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SCOPE of the 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13001" y="156372"/>
            <a:ext cx="1351283" cy="1351283"/>
            <a:chOff x="0" y="0"/>
            <a:chExt cx="1801711" cy="1801711"/>
          </a:xfrm>
        </p:grpSpPr>
        <p:sp>
          <p:nvSpPr>
            <p:cNvPr name="Freeform 6" id="6" descr="images.jpg"/>
            <p:cNvSpPr/>
            <p:nvPr/>
          </p:nvSpPr>
          <p:spPr>
            <a:xfrm flipH="false" flipV="false" rot="0">
              <a:off x="0" y="0"/>
              <a:ext cx="1801749" cy="1801749"/>
            </a:xfrm>
            <a:custGeom>
              <a:avLst/>
              <a:gdLst/>
              <a:ahLst/>
              <a:cxnLst/>
              <a:rect r="r" b="b" t="t" l="l"/>
              <a:pathLst>
                <a:path h="1801749" w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31520" y="1964111"/>
            <a:ext cx="8096250" cy="400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3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Problem: Planning an Indian road trip today means juggling maps, blogs, YouTube videos and WhatsApp advice. Map apps optimise for distance, not for what is worth seeing.</a:t>
            </a:r>
          </a:p>
          <a:p>
            <a:pPr algn="l">
              <a:lnSpc>
                <a:spcPts val="2133"/>
              </a:lnSpc>
            </a:pPr>
          </a:p>
          <a:p>
            <a:pPr algn="l">
              <a:lnSpc>
                <a:spcPts val="2133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Scope of RAHGIR:</a:t>
            </a:r>
          </a:p>
          <a:p>
            <a:pPr algn="l">
              <a:lnSpc>
                <a:spcPts val="2133"/>
              </a:lnSpc>
            </a:pPr>
          </a:p>
          <a:p>
            <a:pPr algn="l">
              <a:lnSpc>
                <a:spcPts val="2133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Covers road-based domestic travel between any two Indian cities, including intermediate towns along the highway.</a:t>
            </a:r>
          </a:p>
          <a:p>
            <a:pPr algn="l">
              <a:lnSpc>
                <a:spcPts val="2133"/>
              </a:lnSpc>
            </a:pPr>
          </a:p>
          <a:p>
            <a:pPr algn="l">
              <a:lnSpc>
                <a:spcPts val="2133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Generates a multi-day itinerary with realistic driving hours, halt suggestions, and cultural or culinary highlights per stop.</a:t>
            </a:r>
          </a:p>
          <a:p>
            <a:pPr algn="l">
              <a:lnSpc>
                <a:spcPts val="2133"/>
              </a:lnSpc>
            </a:pPr>
          </a:p>
          <a:p>
            <a:pPr algn="l">
              <a:lnSpc>
                <a:spcPts val="2133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Works from a single conversational input - source, destination, duration, and interests.</a:t>
            </a:r>
          </a:p>
          <a:p>
            <a:pPr algn="l">
              <a:lnSpc>
                <a:spcPts val="2133"/>
              </a:lnSpc>
            </a:pPr>
          </a:p>
          <a:p>
            <a:pPr algn="l">
              <a:lnSpc>
                <a:spcPts val="2133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Out of scope (current version): flight and train booking, hotel reservation, live traffic prediction, and payment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154059"/>
            <a:ext cx="7033965" cy="1612906"/>
            <a:chOff x="0" y="0"/>
            <a:chExt cx="9378620" cy="21505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8615" cy="2150539"/>
            </a:xfrm>
            <a:custGeom>
              <a:avLst/>
              <a:gdLst/>
              <a:ahLst/>
              <a:cxnLst/>
              <a:rect r="r" b="b" t="t" l="l"/>
              <a:pathLst>
                <a:path h="2150539" w="9378615">
                  <a:moveTo>
                    <a:pt x="0" y="0"/>
                  </a:moveTo>
                  <a:lnTo>
                    <a:pt x="9378615" y="0"/>
                  </a:lnTo>
                  <a:lnTo>
                    <a:pt x="9378615" y="2150539"/>
                  </a:lnTo>
                  <a:lnTo>
                    <a:pt x="0" y="21505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75" r="0" b="-349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378620" cy="2245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32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RELATED 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98741" y="154059"/>
            <a:ext cx="1351283" cy="1351283"/>
            <a:chOff x="0" y="0"/>
            <a:chExt cx="1801711" cy="1801711"/>
          </a:xfrm>
        </p:grpSpPr>
        <p:sp>
          <p:nvSpPr>
            <p:cNvPr name="Freeform 6" id="6" descr="images.jpg"/>
            <p:cNvSpPr/>
            <p:nvPr/>
          </p:nvSpPr>
          <p:spPr>
            <a:xfrm flipH="false" flipV="false" rot="0">
              <a:off x="0" y="0"/>
              <a:ext cx="1801749" cy="1801749"/>
            </a:xfrm>
            <a:custGeom>
              <a:avLst/>
              <a:gdLst/>
              <a:ahLst/>
              <a:cxnLst/>
              <a:rect r="r" b="b" t="t" l="l"/>
              <a:pathLst>
                <a:path h="1801749" w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31520" y="1628243"/>
            <a:ext cx="8096250" cy="374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3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Google Maps / MapmyIndia - excellent routing and navigation, but purely distance and time optimised; no narrative or cultural context for stops.</a:t>
            </a:r>
          </a:p>
          <a:p>
            <a:pPr algn="l">
              <a:lnSpc>
                <a:spcPts val="2133"/>
              </a:lnSpc>
            </a:pPr>
          </a:p>
          <a:p>
            <a:pPr algn="l">
              <a:lnSpc>
                <a:spcPts val="2133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MakeMyTrip / Yatra / TripAdvisor - strong for booking and reviews, but oriented to destinations and hotels rather than the journey between them.</a:t>
            </a:r>
          </a:p>
          <a:p>
            <a:pPr algn="l">
              <a:lnSpc>
                <a:spcPts val="2133"/>
              </a:lnSpc>
            </a:pPr>
          </a:p>
          <a:p>
            <a:pPr algn="l">
              <a:lnSpc>
                <a:spcPts val="2133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ChatGPT and similar LLM assistants - can draft itineraries, but rely on model memory alone, which causes outdated or hallucinated places and unrealistic drive times.</a:t>
            </a:r>
          </a:p>
          <a:p>
            <a:pPr algn="l">
              <a:lnSpc>
                <a:spcPts val="2133"/>
              </a:lnSpc>
            </a:pPr>
          </a:p>
          <a:p>
            <a:pPr algn="l">
              <a:lnSpc>
                <a:spcPts val="2133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Research on LLM agents (ReAct, Toolformer) shows tool-augmented reasoning reduces hallucination - the basis for our grounded, API-backed design.</a:t>
            </a:r>
          </a:p>
          <a:p>
            <a:pPr algn="l">
              <a:lnSpc>
                <a:spcPts val="2133"/>
              </a:lnSpc>
            </a:pPr>
          </a:p>
          <a:p>
            <a:pPr algn="l">
              <a:lnSpc>
                <a:spcPts val="2133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Gap identified: no existing system combines real routing APIs, POI data, and LLM reasoning specifically for Indian road-trip planning.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2940" y="243840"/>
            <a:ext cx="8290560" cy="1568025"/>
            <a:chOff x="0" y="0"/>
            <a:chExt cx="11054080" cy="20906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4080" cy="2090702"/>
            </a:xfrm>
            <a:custGeom>
              <a:avLst/>
              <a:gdLst/>
              <a:ahLst/>
              <a:cxnLst/>
              <a:rect r="r" b="b" t="t" l="l"/>
              <a:pathLst>
                <a:path h="2090702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2"/>
                  </a:lnTo>
                  <a:lnTo>
                    <a:pt x="0" y="20907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022" r="0" b="-530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054080" cy="218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32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Applications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27997" y="243840"/>
            <a:ext cx="1351283" cy="1351283"/>
            <a:chOff x="0" y="0"/>
            <a:chExt cx="1801711" cy="1801711"/>
          </a:xfrm>
        </p:grpSpPr>
        <p:sp>
          <p:nvSpPr>
            <p:cNvPr name="Freeform 6" id="6" descr="images.jpg"/>
            <p:cNvSpPr/>
            <p:nvPr/>
          </p:nvSpPr>
          <p:spPr>
            <a:xfrm flipH="false" flipV="false" rot="0">
              <a:off x="0" y="0"/>
              <a:ext cx="1801749" cy="1801749"/>
            </a:xfrm>
            <a:custGeom>
              <a:avLst/>
              <a:gdLst/>
              <a:ahLst/>
              <a:cxnLst/>
              <a:rect r="r" b="b" t="t" l="l"/>
              <a:pathLst>
                <a:path h="1801749" w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2940" y="1651644"/>
            <a:ext cx="8096250" cy="438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Personal road-trip planning - families, students and weekend travellers get a ready day-wise plan with halts, food stops and sightseeing.</a:t>
            </a: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Tourism promotion for smaller towns - surfaces tier-2 and tier-3 destinations that rarely appear in commercial travel listings.</a:t>
            </a: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Travel agencies and tour operators - can auto-draft custom itineraries for clients in seconds instead of hours of manual research.</a:t>
            </a: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Highway hospitality and local businesses - dhabas, homestays and heritage sites gain visibility as recommended stops.</a:t>
            </a: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Educational and cultural travel - school or college trips planned around heritage, craft and food clusters along a route.</a:t>
            </a: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Reusable architecture - the multi-agent pattern can be extended to logistics routing, pilgrimage circuits, or state tourism portals.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243840"/>
            <a:ext cx="8290560" cy="1568025"/>
            <a:chOff x="0" y="0"/>
            <a:chExt cx="11054080" cy="20906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4080" cy="2090702"/>
            </a:xfrm>
            <a:custGeom>
              <a:avLst/>
              <a:gdLst/>
              <a:ahLst/>
              <a:cxnLst/>
              <a:rect r="r" b="b" t="t" l="l"/>
              <a:pathLst>
                <a:path h="2090702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2"/>
                  </a:lnTo>
                  <a:lnTo>
                    <a:pt x="0" y="20907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022" r="0" b="-530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054080" cy="218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32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27997" y="243840"/>
            <a:ext cx="1351283" cy="1351283"/>
            <a:chOff x="0" y="0"/>
            <a:chExt cx="1801711" cy="1801711"/>
          </a:xfrm>
        </p:grpSpPr>
        <p:sp>
          <p:nvSpPr>
            <p:cNvPr name="Freeform 6" id="6" descr="images.jpg"/>
            <p:cNvSpPr/>
            <p:nvPr/>
          </p:nvSpPr>
          <p:spPr>
            <a:xfrm flipH="false" flipV="false" rot="0">
              <a:off x="0" y="0"/>
              <a:ext cx="1801749" cy="1801749"/>
            </a:xfrm>
            <a:custGeom>
              <a:avLst/>
              <a:gdLst/>
              <a:ahLst/>
              <a:cxnLst/>
              <a:rect r="r" b="b" t="t" l="l"/>
              <a:pathLst>
                <a:path h="1801749" w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31520" y="1148782"/>
            <a:ext cx="8096250" cy="258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No live traffic or road-condition data - travel times are estimates and may differ during monsoon, festivals or roadwork.</a:t>
            </a: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Latency and cost - multiple agent calls per request increase response time and API usage compared with a single query.</a:t>
            </a:r>
          </a:p>
          <a:p>
            <a:pPr algn="l">
              <a:lnSpc>
                <a:spcPts val="2054"/>
              </a:lnSpc>
            </a:pPr>
          </a:p>
          <a:p>
            <a:pPr algn="l">
              <a:lnSpc>
                <a:spcPts val="2054"/>
              </a:lnSpc>
            </a:pPr>
            <a:r>
              <a:rPr lang="en-US" sz="1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No booking, payment or real-time availability for hotels and restaurants in the present version.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1758" y="243840"/>
            <a:ext cx="8481742" cy="1568027"/>
            <a:chOff x="0" y="0"/>
            <a:chExt cx="11308990" cy="209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08990" cy="2090705"/>
            </a:xfrm>
            <a:custGeom>
              <a:avLst/>
              <a:gdLst/>
              <a:ahLst/>
              <a:cxnLst/>
              <a:rect r="r" b="b" t="t" l="l"/>
              <a:pathLst>
                <a:path h="2090705" w="11308990">
                  <a:moveTo>
                    <a:pt x="0" y="0"/>
                  </a:moveTo>
                  <a:lnTo>
                    <a:pt x="11308990" y="0"/>
                  </a:lnTo>
                  <a:lnTo>
                    <a:pt x="11308990" y="2090705"/>
                  </a:lnTo>
                  <a:lnTo>
                    <a:pt x="0" y="20907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022" r="2254" b="-530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308990" cy="2185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27"/>
                </a:lnSpc>
              </a:pPr>
              <a:r>
                <a:rPr lang="en-US" sz="468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 and Future Scope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71758" y="1691893"/>
            <a:ext cx="8287432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Conclusion:</a:t>
            </a:r>
          </a:p>
          <a:p>
            <a:pPr algn="l" marL="0" indent="0" lvl="0">
              <a:lnSpc>
                <a:spcPts val="195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RAHGIR demonstrates that a multi-agent LLM system grounded in real routing and POI APIs can produce practical, context-rich road-trip itineraries for Indian travellers.</a:t>
            </a:r>
          </a:p>
          <a:p>
            <a:pPr algn="l" marL="0" indent="0" lvl="0">
              <a:lnSpc>
                <a:spcPts val="2565"/>
              </a:lnSpc>
            </a:pPr>
            <a:r>
              <a:rPr lang="en-US" sz="15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Splitting the work across specialised LangGraph agents kept each component simple, testable and easy to extend.</a:t>
            </a:r>
          </a:p>
          <a:p>
            <a:pPr algn="l" marL="0" indent="0" lvl="0">
              <a:lnSpc>
                <a:spcPts val="195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The “famous-for” layer is the key differentiator - it turns a route into a journey with meaning.</a:t>
            </a:r>
          </a:p>
          <a:p>
            <a:pPr algn="l" marL="0" indent="0" lvl="0">
              <a:lnSpc>
                <a:spcPts val="195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95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Future Scope:</a:t>
            </a:r>
          </a:p>
          <a:p>
            <a:pPr algn="l" marL="0" indent="0" lvl="0">
              <a:lnSpc>
                <a:spcPts val="195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Add user-contributed and state tourism-board POI data for towns thin on commercial listings.</a:t>
            </a:r>
          </a:p>
          <a:p>
            <a:pPr algn="l" marL="0" indent="0" lvl="0">
              <a:lnSpc>
                <a:spcPts val="3150"/>
              </a:lnSpc>
            </a:pPr>
            <a:r>
              <a:rPr lang="en-US" sz="15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Add live traffic, weather and fuel-stop awareness for more accurate timing.</a:t>
            </a:r>
          </a:p>
          <a:p>
            <a:pPr algn="l" marL="0" indent="0" lvl="0">
              <a:lnSpc>
                <a:spcPts val="195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Hindi and regional-language support, plus a voice interface for drivers.</a:t>
            </a:r>
          </a:p>
          <a:p>
            <a:pPr algn="l" marL="0" indent="0" lvl="0">
              <a:lnSpc>
                <a:spcPts val="195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Mobile application with offline itinerary access and hotel/dhaba booking integration.</a:t>
            </a:r>
          </a:p>
          <a:p>
            <a:pPr algn="l" marL="0" indent="0" lvl="0">
              <a:lnSpc>
                <a:spcPts val="195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Personalisation from past trips and user feedback.</a:t>
            </a:r>
          </a:p>
          <a:p>
            <a:pPr algn="l" marL="0" indent="0" lvl="0">
              <a:lnSpc>
                <a:spcPts val="2250"/>
              </a:lnSpc>
            </a:pPr>
            <a:r>
              <a:rPr lang="en-US" sz="15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Integration into cars as a Tour Mode.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127997" y="243840"/>
            <a:ext cx="1351283" cy="1351283"/>
            <a:chOff x="0" y="0"/>
            <a:chExt cx="1801711" cy="1801711"/>
          </a:xfrm>
        </p:grpSpPr>
        <p:sp>
          <p:nvSpPr>
            <p:cNvPr name="Freeform 7" id="7" descr="images.jpg"/>
            <p:cNvSpPr/>
            <p:nvPr/>
          </p:nvSpPr>
          <p:spPr>
            <a:xfrm flipH="false" flipV="false" rot="0">
              <a:off x="0" y="0"/>
              <a:ext cx="1801749" cy="1801749"/>
            </a:xfrm>
            <a:custGeom>
              <a:avLst/>
              <a:gdLst/>
              <a:ahLst/>
              <a:cxnLst/>
              <a:rect r="r" b="b" t="t" l="l"/>
              <a:pathLst>
                <a:path h="1801749" w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332" y="373285"/>
            <a:ext cx="8290560" cy="1568025"/>
            <a:chOff x="0" y="0"/>
            <a:chExt cx="11054080" cy="20906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4080" cy="2090702"/>
            </a:xfrm>
            <a:custGeom>
              <a:avLst/>
              <a:gdLst/>
              <a:ahLst/>
              <a:cxnLst/>
              <a:rect r="r" b="b" t="t" l="l"/>
              <a:pathLst>
                <a:path h="2090702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2"/>
                  </a:lnTo>
                  <a:lnTo>
                    <a:pt x="0" y="20907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022" r="0" b="-530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1054080" cy="21764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84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Annexure 10 B (Screenshot :Duly Signed by Supervisor)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017096" y="1941309"/>
            <a:ext cx="3351456" cy="4901582"/>
          </a:xfrm>
          <a:custGeom>
            <a:avLst/>
            <a:gdLst/>
            <a:ahLst/>
            <a:cxnLst/>
            <a:rect r="r" b="b" t="t" l="l"/>
            <a:pathLst>
              <a:path h="4901582" w="3351456">
                <a:moveTo>
                  <a:pt x="0" y="0"/>
                </a:moveTo>
                <a:lnTo>
                  <a:pt x="3351456" y="0"/>
                </a:lnTo>
                <a:lnTo>
                  <a:pt x="3351456" y="4901582"/>
                </a:lnTo>
                <a:lnTo>
                  <a:pt x="0" y="4901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2940" y="133155"/>
            <a:ext cx="8290560" cy="1568027"/>
            <a:chOff x="0" y="0"/>
            <a:chExt cx="11054080" cy="209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4080" cy="2090705"/>
            </a:xfrm>
            <a:custGeom>
              <a:avLst/>
              <a:gdLst/>
              <a:ahLst/>
              <a:cxnLst/>
              <a:rect r="r" b="b" t="t" l="l"/>
              <a:pathLst>
                <a:path h="2090705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5"/>
                  </a:lnTo>
                  <a:lnTo>
                    <a:pt x="0" y="20907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022" r="0" b="-530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054080" cy="2185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27"/>
                </a:lnSpc>
              </a:pPr>
              <a:r>
                <a:rPr lang="en-US" sz="468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References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31520" y="1262237"/>
            <a:ext cx="8286750" cy="50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9"/>
              </a:lnSpc>
            </a:pPr>
            <a:r>
              <a:rPr lang="en-US" sz="1275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[1] LangChain Inc., “LangGraph documentation,” LangGraph, 2024. [Online]. Available: https://langchain-ai.github.io/langgraph/</a:t>
            </a:r>
          </a:p>
          <a:p>
            <a:pPr algn="l" marL="0" indent="0" lvl="0">
              <a:lnSpc>
                <a:spcPts val="2499"/>
              </a:lnSpc>
            </a:pPr>
            <a:r>
              <a:rPr lang="en-US" sz="1275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[2] S. Ramírez, “FastAPI documentation,” FastAPI, 2024. [Online]. Available: https://fastapi.tiangolo.com/</a:t>
            </a:r>
          </a:p>
          <a:p>
            <a:pPr algn="l" marL="0" indent="0" lvl="0">
              <a:lnSpc>
                <a:spcPts val="2499"/>
              </a:lnSpc>
            </a:pPr>
            <a:r>
              <a:rPr lang="en-US" sz="1275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[3] HeiGIT, “OpenRouteService API documentation,” Heidelberg Institute for Geoinformation Technology. [Online]. Available: https://openrouteservice.org/dev/</a:t>
            </a:r>
          </a:p>
          <a:p>
            <a:pPr algn="l" marL="0" indent="0" lvl="0">
              <a:lnSpc>
                <a:spcPts val="2499"/>
              </a:lnSpc>
            </a:pPr>
            <a:r>
              <a:rPr lang="en-US" sz="1275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[4] Google LLC, “Places API documentation,” Google Maps Platform, 2024. [Online]. Available: https://developers.google.com/maps/documentation/places/web-service</a:t>
            </a:r>
          </a:p>
          <a:p>
            <a:pPr algn="l" marL="0" indent="0" lvl="0">
              <a:lnSpc>
                <a:spcPts val="2499"/>
              </a:lnSpc>
            </a:pPr>
            <a:r>
              <a:rPr lang="en-US" sz="1275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[5] OpenTripMap, “OpenTripMap API documentation,” OpenTripMap. [Online]. Available: https://opentripmap.io/docs</a:t>
            </a:r>
          </a:p>
          <a:p>
            <a:pPr algn="l" marL="0" indent="0" lvl="0">
              <a:lnSpc>
                <a:spcPts val="2499"/>
              </a:lnSpc>
            </a:pPr>
            <a:r>
              <a:rPr lang="en-US" sz="1275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[6] S. Yao et al., “ReAct: Synergizing reasoning and acting in language models,” in Proc. Int. Conf. Learn. Represent. (ICLR), 2023.</a:t>
            </a:r>
          </a:p>
          <a:p>
            <a:pPr algn="l" marL="0" indent="0" lvl="0">
              <a:lnSpc>
                <a:spcPts val="2499"/>
              </a:lnSpc>
            </a:pPr>
            <a:r>
              <a:rPr lang="en-US" sz="1275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[7] T. Schick et al., “Toolformer: Language models can teach themselves to use tools,” in Adv. Neural Inf. Process. Syst. (NeurIPS), vol. 36, 2023.</a:t>
            </a:r>
          </a:p>
          <a:p>
            <a:pPr algn="l" marL="0" indent="0" lvl="0">
              <a:lnSpc>
                <a:spcPts val="2499"/>
              </a:lnSpc>
            </a:pPr>
            <a:r>
              <a:rPr lang="en-US" sz="1275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[8] P. Lewis et al., “Retrieval-augmented generation for knowledge-intensive NLP tasks,” in Adv. Neural Inf. Process. Syst. (NeurIPS), vol. 33, 2020, pp. 9459–9474.</a:t>
            </a:r>
          </a:p>
          <a:p>
            <a:pPr algn="l" marL="0" indent="0" lvl="0">
              <a:lnSpc>
                <a:spcPts val="2499"/>
              </a:lnSpc>
            </a:pPr>
            <a:r>
              <a:rPr lang="en-US" sz="1275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[9] Ministry of Tourism, Government of India, “India tourism statistics 2024,” New Delhi, India, Rep., 2024.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402317" y="133155"/>
            <a:ext cx="1351283" cy="1351283"/>
            <a:chOff x="0" y="0"/>
            <a:chExt cx="1801711" cy="1801711"/>
          </a:xfrm>
        </p:grpSpPr>
        <p:sp>
          <p:nvSpPr>
            <p:cNvPr name="Freeform 7" id="7" descr="images.jpg"/>
            <p:cNvSpPr/>
            <p:nvPr/>
          </p:nvSpPr>
          <p:spPr>
            <a:xfrm flipH="false" flipV="false" rot="0">
              <a:off x="0" y="0"/>
              <a:ext cx="1801749" cy="1801749"/>
            </a:xfrm>
            <a:custGeom>
              <a:avLst/>
              <a:gdLst/>
              <a:ahLst/>
              <a:cxnLst/>
              <a:rect r="r" b="b" t="t" l="l"/>
              <a:pathLst>
                <a:path h="1801749" w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DAHSieeEHEM</dc:identifier>
  <dcterms:modified xsi:type="dcterms:W3CDTF">2011-08-01T06:04:30Z</dcterms:modified>
  <cp:revision>1</cp:revision>
  <dc:title>MiniProject_Tempelate.pptx</dc:title>
</cp:coreProperties>
</file>